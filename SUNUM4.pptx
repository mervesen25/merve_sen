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64" r:id="rId3"/>
    <p:sldId id="259" r:id="rId4"/>
    <p:sldId id="261" r:id="rId5"/>
    <p:sldId id="257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1904B6-E841-4186-9E69-803EEFC8445B}" v="469" dt="2025-12-15T19:43:41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07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9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94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59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18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21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9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1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95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493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41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1407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954823" y="2385927"/>
            <a:ext cx="4265763" cy="16119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err="1">
                <a:solidFill>
                  <a:srgbClr val="FF0000"/>
                </a:solidFill>
              </a:rPr>
              <a:t>Dijitalleşmenin</a:t>
            </a:r>
            <a:r>
              <a:rPr lang="en-US" sz="4100" dirty="0">
                <a:solidFill>
                  <a:srgbClr val="FF0000"/>
                </a:solidFill>
              </a:rPr>
              <a:t> </a:t>
            </a:r>
            <a:r>
              <a:rPr lang="en-US" sz="4100" err="1">
                <a:solidFill>
                  <a:srgbClr val="FF0000"/>
                </a:solidFill>
              </a:rPr>
              <a:t>Toplumsal</a:t>
            </a:r>
            <a:r>
              <a:rPr lang="en-US" sz="4100" dirty="0">
                <a:solidFill>
                  <a:srgbClr val="FF0000"/>
                </a:solidFill>
              </a:rPr>
              <a:t> </a:t>
            </a:r>
            <a:r>
              <a:rPr lang="en-US" sz="4100" err="1">
                <a:solidFill>
                  <a:srgbClr val="FF0000"/>
                </a:solidFill>
              </a:rPr>
              <a:t>Etkileri</a:t>
            </a:r>
            <a:endParaRPr lang="en-US" sz="4100">
              <a:solidFill>
                <a:srgbClr val="FF0000"/>
              </a:solidFill>
            </a:endParaRP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5871353" y="2476926"/>
            <a:ext cx="5269831" cy="203911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/>
              <a:t>Ronya Hsso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/>
              <a:t>Merve şen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/>
              <a:t>Nisanur ay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/>
              <a:t>Pelin ay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3BBB421-F269-C0DB-6446-C0B18D9D6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846053"/>
            <a:ext cx="10890929" cy="1356073"/>
          </a:xfrm>
        </p:spPr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ELİMİZDEKİ VERİLER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C9CE9E-A3A9-49C5-F3DF-55338A6C6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47752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Resim 5" descr="metin, ekran görüntüsü, mum, tasarı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87298D1F-4D8A-243F-BADB-337C459051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16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Resim 1" descr="metin, ekran görüntüsü, yazı tipi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B0EE91EB-69BC-FB87-6BAF-6C4624B0FC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24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8C4B5246-7FBE-70D0-E1B1-2A0D3BF17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02" y="-5750"/>
            <a:ext cx="4908085" cy="924751"/>
          </a:xfrm>
        </p:spPr>
        <p:txBody>
          <a:bodyPr anchor="t">
            <a:normAutofit/>
          </a:bodyPr>
          <a:lstStyle/>
          <a:p>
            <a:r>
              <a:rPr lang="tr-TR" sz="3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Verinin Isı Haritası :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5D8917F-BE7E-1D49-D873-578A74B25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6" y="723922"/>
            <a:ext cx="4893707" cy="61059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>
                <a:latin typeface="Calibri"/>
                <a:ea typeface="+mn-lt"/>
                <a:cs typeface="+mn-lt"/>
              </a:rPr>
              <a:t>Bu </a:t>
            </a:r>
            <a:r>
              <a:rPr lang="en-US" b="1" err="1">
                <a:latin typeface="Calibri"/>
                <a:ea typeface="+mn-lt"/>
                <a:cs typeface="+mn-lt"/>
              </a:rPr>
              <a:t>ısı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haritası</a:t>
            </a:r>
            <a:r>
              <a:rPr lang="en-US" b="1" dirty="0">
                <a:latin typeface="Calibri"/>
                <a:ea typeface="+mn-lt"/>
                <a:cs typeface="+mn-lt"/>
              </a:rPr>
              <a:t>, </a:t>
            </a:r>
            <a:r>
              <a:rPr lang="en-US" b="1" err="1">
                <a:latin typeface="Calibri"/>
                <a:ea typeface="+mn-lt"/>
                <a:cs typeface="+mn-lt"/>
              </a:rPr>
              <a:t>farklı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yaş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gruplarının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telefon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kullanım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amaçları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yüzdeleri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arasında</a:t>
            </a:r>
            <a:r>
              <a:rPr lang="en-US" b="1" dirty="0">
                <a:latin typeface="Calibri"/>
                <a:ea typeface="+mn-lt"/>
                <a:cs typeface="+mn-lt"/>
              </a:rPr>
              <a:t> ne </a:t>
            </a:r>
            <a:r>
              <a:rPr lang="en-US" b="1" err="1">
                <a:latin typeface="Calibri"/>
                <a:ea typeface="+mn-lt"/>
                <a:cs typeface="+mn-lt"/>
              </a:rPr>
              <a:t>kadar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güçlü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bir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ilişki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olduğunu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gösterir</a:t>
            </a:r>
            <a:r>
              <a:rPr lang="en-US" b="1" dirty="0">
                <a:latin typeface="Calibri"/>
                <a:ea typeface="+mn-lt"/>
                <a:cs typeface="+mn-lt"/>
              </a:rPr>
              <a:t>.</a:t>
            </a:r>
            <a:endParaRPr lang="en-US" b="1">
              <a:latin typeface="Grandview Display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  <a:buFont typeface="Wingdings" panose="020B0604020202020204" pitchFamily="34" charset="0"/>
              <a:buChar char="Ø"/>
            </a:pP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Ana </a:t>
            </a:r>
            <a:r>
              <a:rPr lang="en-US" b="1" err="1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Çıkarım</a:t>
            </a: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Farklı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grupları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err="1">
                <a:latin typeface="Calibri"/>
                <a:ea typeface="+mn-lt"/>
                <a:cs typeface="+mn-lt"/>
              </a:rPr>
              <a:t>kullanım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amaçlarında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birbirleriyle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neredeyse</a:t>
            </a:r>
            <a:r>
              <a:rPr lang="en-US" b="1" dirty="0">
                <a:latin typeface="Calibri"/>
                <a:ea typeface="+mn-lt"/>
                <a:cs typeface="+mn-lt"/>
              </a:rPr>
              <a:t> </a:t>
            </a:r>
            <a:r>
              <a:rPr lang="en-US" b="1" err="1">
                <a:latin typeface="Calibri"/>
                <a:ea typeface="+mn-lt"/>
                <a:cs typeface="+mn-lt"/>
              </a:rPr>
              <a:t>mükemmel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derecede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uyumludur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10000"/>
              </a:lnSpc>
              <a:buFont typeface="Wingdings" panose="020B0604020202020204" pitchFamily="34" charset="0"/>
              <a:buChar char="Ø"/>
            </a:pPr>
            <a:r>
              <a:rPr lang="en-US" b="1" err="1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Özet</a:t>
            </a: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>
                <a:latin typeface="Calibri"/>
                <a:ea typeface="+mn-lt"/>
                <a:cs typeface="+mn-lt"/>
              </a:rPr>
              <a:t>Bu, </a:t>
            </a:r>
            <a:r>
              <a:rPr lang="en-US" err="1">
                <a:latin typeface="Calibri"/>
                <a:ea typeface="+mn-lt"/>
                <a:cs typeface="+mn-lt"/>
              </a:rPr>
              <a:t>eğer</a:t>
            </a:r>
            <a:r>
              <a:rPr lang="en-US" dirty="0">
                <a:latin typeface="Calibri"/>
                <a:ea typeface="+mn-lt"/>
                <a:cs typeface="+mn-lt"/>
              </a:rPr>
              <a:t> 6-10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grubunda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bir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amaç</a:t>
            </a:r>
            <a:r>
              <a:rPr lang="en-US" dirty="0">
                <a:latin typeface="Calibri"/>
                <a:ea typeface="+mn-lt"/>
                <a:cs typeface="+mn-lt"/>
              </a:rPr>
              <a:t> (</a:t>
            </a:r>
            <a:r>
              <a:rPr lang="en-US" err="1">
                <a:latin typeface="Calibri"/>
                <a:ea typeface="+mn-lt"/>
                <a:cs typeface="+mn-lt"/>
              </a:rPr>
              <a:t>örneğin</a:t>
            </a:r>
            <a:r>
              <a:rPr lang="en-US" dirty="0">
                <a:latin typeface="Calibri"/>
                <a:ea typeface="+mn-lt"/>
                <a:cs typeface="+mn-lt"/>
              </a:rPr>
              <a:t> "Oyun </a:t>
            </a:r>
            <a:r>
              <a:rPr lang="en-US" err="1">
                <a:latin typeface="Calibri"/>
                <a:ea typeface="+mn-lt"/>
                <a:cs typeface="+mn-lt"/>
              </a:rPr>
              <a:t>oynama</a:t>
            </a:r>
            <a:r>
              <a:rPr lang="en-US" dirty="0">
                <a:latin typeface="Calibri"/>
                <a:ea typeface="+mn-lt"/>
                <a:cs typeface="+mn-lt"/>
              </a:rPr>
              <a:t>") </a:t>
            </a:r>
            <a:r>
              <a:rPr lang="en-US" err="1">
                <a:latin typeface="Calibri"/>
                <a:ea typeface="+mn-lt"/>
                <a:cs typeface="+mn-lt"/>
              </a:rPr>
              <a:t>yüksek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oranda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kullanılıyorsa</a:t>
            </a:r>
            <a:r>
              <a:rPr lang="en-US" dirty="0">
                <a:latin typeface="Calibri"/>
                <a:ea typeface="+mn-lt"/>
                <a:cs typeface="+mn-lt"/>
              </a:rPr>
              <a:t>, 11-15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grubunda</a:t>
            </a:r>
            <a:r>
              <a:rPr lang="en-US" dirty="0">
                <a:latin typeface="Calibri"/>
                <a:ea typeface="+mn-lt"/>
                <a:cs typeface="+mn-lt"/>
              </a:rPr>
              <a:t> da </a:t>
            </a:r>
            <a:r>
              <a:rPr lang="en-US" err="1">
                <a:latin typeface="Calibri"/>
                <a:ea typeface="+mn-lt"/>
                <a:cs typeface="+mn-lt"/>
              </a:rPr>
              <a:t>aynı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amacın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yüksek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oranda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kullanıldığı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anlamına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gelir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>
              <a:lnSpc>
                <a:spcPct val="110000"/>
              </a:lnSpc>
              <a:buFont typeface="Wingdings" panose="020B0604020202020204" pitchFamily="34" charset="0"/>
              <a:buChar char="Ø"/>
            </a:pP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grupları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arasındaki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kullanım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eğilimleri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benzerdir</a:t>
            </a:r>
            <a:r>
              <a:rPr lang="en-US" dirty="0">
                <a:latin typeface="Calibri"/>
                <a:ea typeface="+mn-lt"/>
                <a:cs typeface="+mn-lt"/>
              </a:rPr>
              <a:t>; </a:t>
            </a:r>
            <a:r>
              <a:rPr lang="en-US" err="1">
                <a:latin typeface="Calibri"/>
                <a:ea typeface="+mn-lt"/>
                <a:cs typeface="+mn-lt"/>
              </a:rPr>
              <a:t>sadece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genel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yüzdeleri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farklılık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gösterir</a:t>
            </a:r>
            <a:r>
              <a:rPr lang="en-US" dirty="0">
                <a:latin typeface="Calibri"/>
                <a:ea typeface="+mn-lt"/>
                <a:cs typeface="+mn-lt"/>
              </a:rPr>
              <a:t> 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İçerik Yer Tutucusu 3" descr="metin, ekran görüntüsü, sayı, numara, diyagram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E6523014-4E7F-74FD-F1BE-E4448E6D09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" r="-1" b="4996"/>
          <a:stretch>
            <a:fillRect/>
          </a:stretch>
        </p:blipFill>
        <p:spPr>
          <a:xfrm>
            <a:off x="5671128" y="468701"/>
            <a:ext cx="6520872" cy="5885483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684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653AE3C-AC4F-907C-B473-B9A30D215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478D46C0-79FA-B936-F57B-5BB43E5F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901" y="-5750"/>
            <a:ext cx="5407237" cy="6857130"/>
          </a:xfrm>
        </p:spPr>
        <p:txBody>
          <a:bodyPr>
            <a:normAutofit/>
          </a:bodyPr>
          <a:lstStyle/>
          <a:p>
            <a:r>
              <a:rPr lang="tr-TR" sz="3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Verinin Histogramı:</a:t>
            </a:r>
            <a:br>
              <a:rPr lang="tr-TR" sz="36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</a:br>
            <a:r>
              <a:rPr lang="tr-TR" sz="2000" dirty="0">
                <a:ea typeface="+mj-lt"/>
                <a:cs typeface="+mj-lt"/>
              </a:rPr>
              <a:t>Ana Çıkarım:</a:t>
            </a:r>
            <a:r>
              <a:rPr lang="tr-TR" sz="2000" b="0" dirty="0">
                <a:ea typeface="+mj-lt"/>
                <a:cs typeface="+mj-lt"/>
              </a:rPr>
              <a:t> Çocukların internet faaliyetlerine katılım yüzdeleri, </a:t>
            </a:r>
            <a:r>
              <a:rPr lang="tr-TR" sz="2000" dirty="0">
                <a:ea typeface="+mj-lt"/>
                <a:cs typeface="+mj-lt"/>
              </a:rPr>
              <a:t>düşük katılımlı ve yüksek katılımlı</a:t>
            </a:r>
            <a:r>
              <a:rPr lang="tr-TR" sz="2000" b="0" dirty="0">
                <a:ea typeface="+mj-lt"/>
                <a:cs typeface="+mj-lt"/>
              </a:rPr>
              <a:t> olmak üzere iki uçta net bir şekilde ayrışmıştır.</a:t>
            </a:r>
            <a:br>
              <a:rPr lang="tr-TR" sz="2000" b="0" dirty="0">
                <a:ea typeface="+mj-lt"/>
                <a:cs typeface="+mj-lt"/>
              </a:rPr>
            </a:br>
            <a:endParaRPr lang="tr-TR" sz="2000">
              <a:solidFill>
                <a:srgbClr val="FF0000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tr-TR" sz="2000" b="0" dirty="0">
                <a:ea typeface="+mj-lt"/>
                <a:cs typeface="+mj-lt"/>
              </a:rPr>
              <a:t>Histogram, kullanım amaçlarının yüzdelik değerlerinin orta aralıkta (</a:t>
            </a:r>
            <a:r>
              <a:rPr lang="tr-TR" sz="2000" dirty="0">
                <a:ea typeface="+mj-lt"/>
                <a:cs typeface="+mj-lt"/>
              </a:rPr>
              <a:t>%25 - %65</a:t>
            </a:r>
            <a:r>
              <a:rPr lang="tr-TR" sz="2000" b="0" dirty="0">
                <a:ea typeface="+mj-lt"/>
                <a:cs typeface="+mj-lt"/>
              </a:rPr>
              <a:t> arası) </a:t>
            </a:r>
            <a:r>
              <a:rPr lang="tr-TR" sz="2000" dirty="0">
                <a:ea typeface="+mj-lt"/>
                <a:cs typeface="+mj-lt"/>
              </a:rPr>
              <a:t>düşük frekans</a:t>
            </a:r>
            <a:r>
              <a:rPr lang="tr-TR" sz="2000" b="0" dirty="0">
                <a:ea typeface="+mj-lt"/>
                <a:cs typeface="+mj-lt"/>
              </a:rPr>
              <a:t> gösterdiğini ortaya koymuştur.</a:t>
            </a:r>
            <a:endParaRPr lang="tr-TR" sz="2000"/>
          </a:p>
          <a:p>
            <a:pPr marL="285750" indent="-285750">
              <a:buFont typeface="Arial"/>
              <a:buChar char="•"/>
            </a:pPr>
            <a:r>
              <a:rPr lang="tr-TR" sz="2000" b="0" dirty="0">
                <a:ea typeface="+mj-lt"/>
                <a:cs typeface="+mj-lt"/>
              </a:rPr>
              <a:t>Bunun yerine, amaçların büyük çoğunluğu ya </a:t>
            </a:r>
            <a:r>
              <a:rPr lang="tr-TR" sz="2000" dirty="0">
                <a:ea typeface="+mj-lt"/>
                <a:cs typeface="+mj-lt"/>
              </a:rPr>
              <a:t>%65'in üzerinde</a:t>
            </a:r>
            <a:r>
              <a:rPr lang="tr-TR" sz="2000" b="0" dirty="0">
                <a:ea typeface="+mj-lt"/>
                <a:cs typeface="+mj-lt"/>
              </a:rPr>
              <a:t> yüksek katılımlı faaliyetlerdendir (eğlence/eğitim) ya da </a:t>
            </a:r>
            <a:r>
              <a:rPr lang="tr-TR" sz="2000" dirty="0">
                <a:ea typeface="+mj-lt"/>
                <a:cs typeface="+mj-lt"/>
              </a:rPr>
              <a:t>%25'in altında</a:t>
            </a:r>
            <a:r>
              <a:rPr lang="tr-TR" sz="2000" b="0" dirty="0">
                <a:ea typeface="+mj-lt"/>
                <a:cs typeface="+mj-lt"/>
              </a:rPr>
              <a:t> düşük katılımlı faaliyetlerdendir (e-posta/alışveriş).</a:t>
            </a:r>
            <a:endParaRPr lang="tr-TR" sz="2000"/>
          </a:p>
          <a:p>
            <a:pPr marL="285750" indent="-285750">
              <a:buFont typeface="Arial"/>
              <a:buChar char="•"/>
            </a:pPr>
            <a:r>
              <a:rPr lang="tr-TR" sz="2000" b="0" dirty="0">
                <a:ea typeface="+mj-lt"/>
                <a:cs typeface="+mj-lt"/>
              </a:rPr>
              <a:t>Bu dağılım, internetin bu yaş grubu için temel ihtiyaçları (eğlence ve öğrenme) çok yoğun bir şekilde karşıladığını, diğer amaçların ise ikincil kaldığını gösterir.</a:t>
            </a:r>
            <a:endParaRPr lang="tr-TR" sz="2000"/>
          </a:p>
          <a:p>
            <a:endParaRPr lang="tr-TR" sz="2000" dirty="0">
              <a:latin typeface="Calibri"/>
              <a:ea typeface="Calibri"/>
              <a:cs typeface="Calibri"/>
            </a:endParaRPr>
          </a:p>
        </p:txBody>
      </p:sp>
      <p:pic>
        <p:nvPicPr>
          <p:cNvPr id="4" name="İçerik Yer Tutucusu 3" descr="metin, diyagram, ekran görüntüsü, öykü gelişim çizgisi&#10;&#10;Yapay zeka tarafından oluşturulmuş içerik yanlış olabilir.">
            <a:extLst>
              <a:ext uri="{FF2B5EF4-FFF2-40B4-BE49-F238E27FC236}">
                <a16:creationId xmlns:a16="http://schemas.microsoft.com/office/drawing/2014/main" id="{6D5A6192-5110-1749-176C-BC009F409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6442" y="374654"/>
            <a:ext cx="6676844" cy="576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7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8641113-93EC-E7AA-21B4-7F27C5EE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" y="0"/>
            <a:ext cx="5106231" cy="820190"/>
          </a:xfrm>
        </p:spPr>
        <p:txBody>
          <a:bodyPr anchor="t">
            <a:normAutofit/>
          </a:bodyPr>
          <a:lstStyle/>
          <a:p>
            <a:r>
              <a:rPr lang="tr-TR" sz="3600" dirty="0" err="1">
                <a:solidFill>
                  <a:srgbClr val="FF0000"/>
                </a:solidFill>
              </a:rPr>
              <a:t>Scatter</a:t>
            </a:r>
            <a:r>
              <a:rPr lang="tr-TR" sz="3600" dirty="0">
                <a:solidFill>
                  <a:srgbClr val="FF0000"/>
                </a:solidFill>
              </a:rPr>
              <a:t> </a:t>
            </a:r>
            <a:r>
              <a:rPr lang="tr-TR" sz="3600" dirty="0" err="1">
                <a:solidFill>
                  <a:srgbClr val="FF0000"/>
                </a:solidFill>
              </a:rPr>
              <a:t>Plot</a:t>
            </a:r>
            <a:r>
              <a:rPr lang="tr-TR" sz="3600" dirty="0">
                <a:solidFill>
                  <a:srgbClr val="FF0000"/>
                </a:solidFill>
              </a:rPr>
              <a:t>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22E886-F5D2-D550-E031-D24F024B6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" y="818291"/>
            <a:ext cx="5106231" cy="603381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buNone/>
            </a:pPr>
            <a:r>
              <a:rPr lang="en-US" dirty="0">
                <a:latin typeface="Calibri"/>
                <a:ea typeface="+mn-lt"/>
                <a:cs typeface="+mn-lt"/>
              </a:rPr>
              <a:t>Bu </a:t>
            </a:r>
            <a:r>
              <a:rPr lang="en-US" err="1">
                <a:latin typeface="Calibri"/>
                <a:ea typeface="+mn-lt"/>
                <a:cs typeface="+mn-lt"/>
              </a:rPr>
              <a:t>serpilme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grafiği</a:t>
            </a:r>
            <a:r>
              <a:rPr lang="en-US" dirty="0">
                <a:latin typeface="Calibri"/>
                <a:ea typeface="+mn-lt"/>
                <a:cs typeface="+mn-lt"/>
              </a:rPr>
              <a:t>, 6-10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ve</a:t>
            </a:r>
            <a:r>
              <a:rPr lang="en-US" dirty="0">
                <a:latin typeface="Calibri"/>
                <a:ea typeface="+mn-lt"/>
                <a:cs typeface="+mn-lt"/>
              </a:rPr>
              <a:t> 11-15 </a:t>
            </a:r>
            <a:r>
              <a:rPr lang="en-US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gruplarındaki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yüzdelerini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iki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eksende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gösterir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tr-TR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Ana </a:t>
            </a:r>
            <a:r>
              <a:rPr lang="en-US" b="1" err="1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Çıkarım</a:t>
            </a: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Kullanım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amaçları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arasında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güçlü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bir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doğrusal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ilişki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vardır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err="1">
                <a:latin typeface="Calibri"/>
                <a:ea typeface="+mn-lt"/>
                <a:cs typeface="+mn-lt"/>
              </a:rPr>
              <a:t>ancak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b="1" dirty="0">
                <a:latin typeface="Calibri"/>
                <a:ea typeface="+mn-lt"/>
                <a:cs typeface="+mn-lt"/>
              </a:rPr>
              <a:t>11-15 </a:t>
            </a:r>
            <a:r>
              <a:rPr lang="en-US" b="1" err="1">
                <a:latin typeface="Calibri"/>
                <a:ea typeface="+mn-lt"/>
                <a:cs typeface="+mn-lt"/>
              </a:rPr>
              <a:t>yaş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grubu</a:t>
            </a:r>
            <a:r>
              <a:rPr lang="en-US" b="1" dirty="0">
                <a:latin typeface="Calibri"/>
                <a:ea typeface="+mn-lt"/>
                <a:cs typeface="+mn-lt"/>
              </a:rPr>
              <a:t> her zaman </a:t>
            </a:r>
            <a:r>
              <a:rPr lang="en-US" b="1" err="1">
                <a:latin typeface="Calibri"/>
                <a:ea typeface="+mn-lt"/>
                <a:cs typeface="+mn-lt"/>
              </a:rPr>
              <a:t>daha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yüksek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err="1">
                <a:latin typeface="Calibri"/>
                <a:ea typeface="+mn-lt"/>
                <a:cs typeface="+mn-lt"/>
              </a:rPr>
              <a:t>oranda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err="1">
                <a:latin typeface="Calibri"/>
                <a:ea typeface="+mn-lt"/>
                <a:cs typeface="+mn-lt"/>
              </a:rPr>
              <a:t>kullanır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 err="1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Özet</a:t>
            </a:r>
            <a:r>
              <a:rPr lang="en-US" b="1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:</a:t>
            </a:r>
            <a:r>
              <a:rPr lang="en-US" dirty="0">
                <a:solidFill>
                  <a:srgbClr val="FF0000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Grafikteki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noktaların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çoğunun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b="1" dirty="0" err="1">
                <a:latin typeface="Calibri"/>
                <a:ea typeface="+mn-lt"/>
                <a:cs typeface="+mn-lt"/>
              </a:rPr>
              <a:t>pozitif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eğimli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bir</a:t>
            </a:r>
            <a:r>
              <a:rPr lang="en-US" b="1" dirty="0">
                <a:latin typeface="Calibri"/>
                <a:ea typeface="+mn-lt"/>
                <a:cs typeface="+mn-lt"/>
              </a:rPr>
              <a:t> </a:t>
            </a:r>
            <a:r>
              <a:rPr lang="en-US" b="1" dirty="0" err="1">
                <a:latin typeface="Calibri"/>
                <a:ea typeface="+mn-lt"/>
                <a:cs typeface="+mn-lt"/>
              </a:rPr>
              <a:t>çizgi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etrafında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toplanması</a:t>
            </a:r>
            <a:r>
              <a:rPr lang="en-US" dirty="0">
                <a:latin typeface="Calibri"/>
                <a:ea typeface="+mn-lt"/>
                <a:cs typeface="+mn-lt"/>
              </a:rPr>
              <a:t>, </a:t>
            </a:r>
            <a:r>
              <a:rPr lang="en-US" dirty="0" err="1">
                <a:latin typeface="Calibri"/>
                <a:ea typeface="+mn-lt"/>
                <a:cs typeface="+mn-lt"/>
              </a:rPr>
              <a:t>bu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iki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yaş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grubu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arasında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çok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güçlü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bir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pozitif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ilişki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olduğunu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teyit</a:t>
            </a:r>
            <a:r>
              <a:rPr lang="en-US" dirty="0">
                <a:latin typeface="Calibri"/>
                <a:ea typeface="+mn-lt"/>
                <a:cs typeface="+mn-lt"/>
              </a:rPr>
              <a:t> </a:t>
            </a:r>
            <a:r>
              <a:rPr lang="en-US" dirty="0" err="1">
                <a:latin typeface="Calibri"/>
                <a:ea typeface="+mn-lt"/>
                <a:cs typeface="+mn-lt"/>
              </a:rPr>
              <a:t>eder</a:t>
            </a:r>
            <a:r>
              <a:rPr lang="en-US" dirty="0">
                <a:latin typeface="Calibri"/>
                <a:ea typeface="+mn-lt"/>
                <a:cs typeface="+mn-lt"/>
              </a:rPr>
              <a:t>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Calibri"/>
                <a:ea typeface="+mn-lt"/>
                <a:cs typeface="+mn-lt"/>
              </a:rPr>
              <a:t>Noktaların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>
                <a:latin typeface="Calibri"/>
                <a:ea typeface="+mn-lt"/>
                <a:cs typeface="+mn-lt"/>
              </a:rPr>
              <a:t>sol alt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köşeden</a:t>
            </a:r>
            <a:r>
              <a:rPr lang="en-US" sz="2000" b="1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sağ</a:t>
            </a:r>
            <a:r>
              <a:rPr lang="en-US" sz="2000" b="1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üst</a:t>
            </a:r>
            <a:r>
              <a:rPr lang="en-US" sz="2000" b="1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köşeye</a:t>
            </a:r>
            <a:r>
              <a:rPr lang="en-US" sz="2000" b="1" dirty="0">
                <a:latin typeface="Calibri"/>
                <a:ea typeface="+mn-lt"/>
                <a:cs typeface="+mn-lt"/>
              </a:rPr>
              <a:t> </a:t>
            </a:r>
            <a:r>
              <a:rPr lang="en-US" sz="2000" b="1" dirty="0" err="1">
                <a:latin typeface="Calibri"/>
                <a:ea typeface="+mn-lt"/>
                <a:cs typeface="+mn-lt"/>
              </a:rPr>
              <a:t>doğru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gitmesi</a:t>
            </a:r>
            <a:r>
              <a:rPr lang="en-US" sz="2000" dirty="0">
                <a:latin typeface="Calibri"/>
                <a:ea typeface="+mn-lt"/>
                <a:cs typeface="+mn-lt"/>
              </a:rPr>
              <a:t>,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bir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amaç</a:t>
            </a:r>
            <a:r>
              <a:rPr lang="en-US" sz="2000" dirty="0">
                <a:latin typeface="Calibri"/>
                <a:ea typeface="+mn-lt"/>
                <a:cs typeface="+mn-lt"/>
              </a:rPr>
              <a:t> her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iki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grupta</a:t>
            </a:r>
            <a:r>
              <a:rPr lang="en-US" sz="2000" dirty="0">
                <a:latin typeface="Calibri"/>
                <a:ea typeface="+mn-lt"/>
                <a:cs typeface="+mn-lt"/>
              </a:rPr>
              <a:t> da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yüksekse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grafiğin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sağ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üstünde</a:t>
            </a:r>
            <a:r>
              <a:rPr lang="en-US" sz="2000" dirty="0">
                <a:latin typeface="Calibri"/>
                <a:ea typeface="+mn-lt"/>
                <a:cs typeface="+mn-lt"/>
              </a:rPr>
              <a:t>;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düşükse</a:t>
            </a:r>
            <a:r>
              <a:rPr lang="en-US" sz="2000" dirty="0">
                <a:latin typeface="Calibri"/>
                <a:ea typeface="+mn-lt"/>
                <a:cs typeface="+mn-lt"/>
              </a:rPr>
              <a:t> sol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altında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konumlandığını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dirty="0" err="1">
                <a:latin typeface="Calibri"/>
                <a:ea typeface="+mn-lt"/>
                <a:cs typeface="+mn-lt"/>
              </a:rPr>
              <a:t>gösterir</a:t>
            </a:r>
            <a:r>
              <a:rPr lang="en-US" sz="2000" dirty="0">
                <a:latin typeface="Calibri"/>
                <a:ea typeface="+mn-lt"/>
                <a:cs typeface="+mn-lt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2000" dirty="0">
                <a:latin typeface="Calibri"/>
                <a:ea typeface="+mn-lt"/>
                <a:cs typeface="+mn-lt"/>
              </a:rPr>
              <a:t>Bu, "Oyun </a:t>
            </a:r>
            <a:r>
              <a:rPr lang="en-US" sz="2000" err="1">
                <a:latin typeface="Calibri"/>
                <a:ea typeface="+mn-lt"/>
                <a:cs typeface="+mn-lt"/>
              </a:rPr>
              <a:t>oynama</a:t>
            </a:r>
            <a:r>
              <a:rPr lang="en-US" sz="2000" dirty="0">
                <a:latin typeface="Calibri"/>
                <a:ea typeface="+mn-lt"/>
                <a:cs typeface="+mn-lt"/>
              </a:rPr>
              <a:t>" </a:t>
            </a:r>
            <a:r>
              <a:rPr lang="en-US" sz="2000" err="1">
                <a:latin typeface="Calibri"/>
                <a:ea typeface="+mn-lt"/>
                <a:cs typeface="+mn-lt"/>
              </a:rPr>
              <a:t>gibi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amaçların</a:t>
            </a:r>
            <a:r>
              <a:rPr lang="en-US" sz="2000" dirty="0">
                <a:latin typeface="Calibri"/>
                <a:ea typeface="+mn-lt"/>
                <a:cs typeface="+mn-lt"/>
              </a:rPr>
              <a:t> her </a:t>
            </a:r>
            <a:r>
              <a:rPr lang="en-US" sz="2000" err="1">
                <a:latin typeface="Calibri"/>
                <a:ea typeface="+mn-lt"/>
                <a:cs typeface="+mn-lt"/>
              </a:rPr>
              <a:t>iki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yaş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grubunda</a:t>
            </a:r>
            <a:r>
              <a:rPr lang="en-US" sz="2000" dirty="0">
                <a:latin typeface="Calibri"/>
                <a:ea typeface="+mn-lt"/>
                <a:cs typeface="+mn-lt"/>
              </a:rPr>
              <a:t> da </a:t>
            </a:r>
            <a:r>
              <a:rPr lang="en-US" sz="2000" err="1">
                <a:latin typeface="Calibri"/>
                <a:ea typeface="+mn-lt"/>
                <a:cs typeface="+mn-lt"/>
              </a:rPr>
              <a:t>popüler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olduğunu</a:t>
            </a:r>
            <a:r>
              <a:rPr lang="en-US" sz="2000" dirty="0">
                <a:latin typeface="Calibri"/>
                <a:ea typeface="+mn-lt"/>
                <a:cs typeface="+mn-lt"/>
              </a:rPr>
              <a:t>, buna </a:t>
            </a:r>
            <a:r>
              <a:rPr lang="en-US" sz="2000" err="1">
                <a:latin typeface="Calibri"/>
                <a:ea typeface="+mn-lt"/>
                <a:cs typeface="+mn-lt"/>
              </a:rPr>
              <a:t>karşın</a:t>
            </a:r>
            <a:r>
              <a:rPr lang="en-US" sz="2000" dirty="0">
                <a:latin typeface="Calibri"/>
                <a:ea typeface="+mn-lt"/>
                <a:cs typeface="+mn-lt"/>
              </a:rPr>
              <a:t> "</a:t>
            </a:r>
            <a:r>
              <a:rPr lang="en-US" sz="2000" err="1">
                <a:latin typeface="Calibri"/>
                <a:ea typeface="+mn-lt"/>
                <a:cs typeface="+mn-lt"/>
              </a:rPr>
              <a:t>Çevrimiçi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denetime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katılma</a:t>
            </a:r>
            <a:r>
              <a:rPr lang="en-US" sz="2000" dirty="0">
                <a:latin typeface="Calibri"/>
                <a:ea typeface="+mn-lt"/>
                <a:cs typeface="+mn-lt"/>
              </a:rPr>
              <a:t>" </a:t>
            </a:r>
            <a:r>
              <a:rPr lang="en-US" sz="2000" err="1">
                <a:latin typeface="Calibri"/>
                <a:ea typeface="+mn-lt"/>
                <a:cs typeface="+mn-lt"/>
              </a:rPr>
              <a:t>gibi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amaçların</a:t>
            </a:r>
            <a:r>
              <a:rPr lang="en-US" sz="2000" dirty="0">
                <a:latin typeface="Calibri"/>
                <a:ea typeface="+mn-lt"/>
                <a:cs typeface="+mn-lt"/>
              </a:rPr>
              <a:t> her </a:t>
            </a:r>
            <a:r>
              <a:rPr lang="en-US" sz="2000" err="1">
                <a:latin typeface="Calibri"/>
                <a:ea typeface="+mn-lt"/>
                <a:cs typeface="+mn-lt"/>
              </a:rPr>
              <a:t>iki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grupta</a:t>
            </a:r>
            <a:r>
              <a:rPr lang="en-US" sz="2000" dirty="0">
                <a:latin typeface="Calibri"/>
                <a:ea typeface="+mn-lt"/>
                <a:cs typeface="+mn-lt"/>
              </a:rPr>
              <a:t> da </a:t>
            </a:r>
            <a:r>
              <a:rPr lang="en-US" sz="2000" err="1">
                <a:latin typeface="Calibri"/>
                <a:ea typeface="+mn-lt"/>
                <a:cs typeface="+mn-lt"/>
              </a:rPr>
              <a:t>en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az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popüler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olduğunu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görsel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olarak</a:t>
            </a:r>
            <a:r>
              <a:rPr lang="en-US" sz="2000" dirty="0">
                <a:latin typeface="Calibri"/>
                <a:ea typeface="+mn-lt"/>
                <a:cs typeface="+mn-lt"/>
              </a:rPr>
              <a:t> </a:t>
            </a:r>
            <a:r>
              <a:rPr lang="en-US" sz="2000" err="1">
                <a:latin typeface="Calibri"/>
                <a:ea typeface="+mn-lt"/>
                <a:cs typeface="+mn-lt"/>
              </a:rPr>
              <a:t>kanıtlar</a:t>
            </a:r>
            <a:r>
              <a:rPr lang="en-US" sz="2000" dirty="0">
                <a:latin typeface="Calibri"/>
                <a:ea typeface="+mn-lt"/>
                <a:cs typeface="+mn-lt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İçerik Yer Tutucusu 3" descr="metin, ekran görüntüsü, ekran, görüntüleme, sayı, numara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F31FECD9-A8E0-863F-B78F-7838B68A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4" r="2" b="2"/>
          <a:stretch>
            <a:fillRect/>
          </a:stretch>
        </p:blipFill>
        <p:spPr>
          <a:xfrm>
            <a:off x="5518728" y="457199"/>
            <a:ext cx="6673272" cy="587999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025DBA-8780-9CA0-2826-FF6E3BD1A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672328" y="6267921"/>
            <a:ext cx="6519672" cy="2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865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F724A09-8B39-D80E-86EF-EB0D83F26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147978"/>
            <a:ext cx="10890929" cy="1054148"/>
          </a:xfrm>
        </p:spPr>
        <p:txBody>
          <a:bodyPr>
            <a:normAutofit/>
          </a:bodyPr>
          <a:lstStyle/>
          <a:p>
            <a:r>
              <a:rPr lang="tr-TR" dirty="0"/>
              <a:t>BİZİ DİNLEDİĞİNİZ İÇİN TEŞEKKÜRLER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1158D45-F9B1-F80B-36CF-294914BDD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226871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8</vt:i4>
      </vt:variant>
    </vt:vector>
  </HeadingPairs>
  <TitlesOfParts>
    <vt:vector size="9" baseType="lpstr">
      <vt:lpstr>DashVTI</vt:lpstr>
      <vt:lpstr>Dijitalleşmenin Toplumsal Etkileri</vt:lpstr>
      <vt:lpstr>ELİMİZDEKİ VERİLER</vt:lpstr>
      <vt:lpstr>PowerPoint Sunusu</vt:lpstr>
      <vt:lpstr>PowerPoint Sunusu</vt:lpstr>
      <vt:lpstr>Verinin Isı Haritası :</vt:lpstr>
      <vt:lpstr>Verinin Histogramı: Ana Çıkarım: Çocukların internet faaliyetlerine katılım yüzdeleri, düşük katılımlı ve yüksek katılımlı olmak üzere iki uçta net bir şekilde ayrışmıştır.  Histogram, kullanım amaçlarının yüzdelik değerlerinin orta aralıkta (%25 - %65 arası) düşük frekans gösterdiğini ortaya koymuştur. Bunun yerine, amaçların büyük çoğunluğu ya %65'in üzerinde yüksek katılımlı faaliyetlerdendir (eğlence/eğitim) ya da %25'in altında düşük katılımlı faaliyetlerdendir (e-posta/alışveriş). Bu dağılım, internetin bu yaş grubu için temel ihtiyaçları (eğlence ve öğrenme) çok yoğun bir şekilde karşıladığını, diğer amaçların ise ikincil kaldığını gösterir. </vt:lpstr>
      <vt:lpstr>Scatter Plot:</vt:lpstr>
      <vt:lpstr>BİZİ DİNLEDİĞİNİZ İÇİN TEŞEKKÜRLER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207</cp:revision>
  <dcterms:created xsi:type="dcterms:W3CDTF">2025-12-15T18:46:05Z</dcterms:created>
  <dcterms:modified xsi:type="dcterms:W3CDTF">2025-12-15T19:43:57Z</dcterms:modified>
</cp:coreProperties>
</file>
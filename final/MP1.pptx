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3" r:id="rId8"/>
    <p:sldId id="262" r:id="rId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30B4C4-59D3-4ADC-9EE5-FD15307C26B2}" v="2278" dt="2025-10-15T19:04:32.6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968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359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4784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571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019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7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022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35893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76085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588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264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605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tr-TR" sz="3200">
                <a:latin typeface="TW Cen MT"/>
                <a:ea typeface="calibri light"/>
                <a:cs typeface="calibri light"/>
              </a:rPr>
              <a:t>Araştırma yöntem ve teknikleri</a:t>
            </a:r>
            <a:br>
              <a:rPr lang="tr-TR" sz="3200">
                <a:latin typeface="TW Cen MT"/>
                <a:ea typeface="calibri light"/>
                <a:cs typeface="calibri light"/>
              </a:rPr>
            </a:br>
            <a:br>
              <a:rPr lang="tr-TR" sz="3200">
                <a:latin typeface="TW Cen MT"/>
                <a:ea typeface="calibri light"/>
                <a:cs typeface="calibri light"/>
              </a:rPr>
            </a:br>
            <a:r>
              <a:rPr lang="tr-TR" sz="3200">
                <a:latin typeface="TW Cen MT"/>
                <a:ea typeface="calibri light"/>
                <a:cs typeface="calibri light"/>
              </a:rPr>
              <a:t>merve şen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sz="2000"/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">
            <a:extLst>
              <a:ext uri="{FF2B5EF4-FFF2-40B4-BE49-F238E27FC236}">
                <a16:creationId xmlns:a16="http://schemas.microsoft.com/office/drawing/2014/main" id="{3E25BDA2-3F4D-4B38-90E7-989465ECD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shade val="92000"/>
                  <a:satMod val="160000"/>
                </a:schemeClr>
              </a:gs>
              <a:gs pos="77000">
                <a:schemeClr val="bg2">
                  <a:tint val="100000"/>
                  <a:shade val="73000"/>
                  <a:satMod val="155000"/>
                </a:schemeClr>
              </a:gs>
              <a:gs pos="100000">
                <a:schemeClr val="bg2">
                  <a:tint val="100000"/>
                  <a:shade val="67000"/>
                  <a:satMod val="14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F65EEA05-AD42-442F-B6C6-CB9FC2894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BC96869A-A70D-42F7-876F-605CB1718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108" y="610955"/>
            <a:ext cx="10927784" cy="563609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6CD407CC-EF5C-486F-9A14-7F681F98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052" y="777240"/>
            <a:ext cx="10597896" cy="5303520"/>
          </a:xfrm>
          <a:prstGeom prst="rect">
            <a:avLst/>
          </a:prstGeom>
          <a:solidFill>
            <a:schemeClr val="bg1"/>
          </a:solidFill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68024C1-0633-6A70-EB02-8848324E7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835" y="1420706"/>
            <a:ext cx="3466540" cy="4016587"/>
          </a:xfrm>
        </p:spPr>
        <p:txBody>
          <a:bodyPr>
            <a:normAutofit/>
          </a:bodyPr>
          <a:lstStyle/>
          <a:p>
            <a:endParaRPr lang="tr-TR" sz="360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740069A-3B65-4882-C677-CD2805617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519" y="1420706"/>
            <a:ext cx="5514758" cy="4016587"/>
          </a:xfrm>
        </p:spPr>
        <p:txBody>
          <a:bodyPr anchor="ctr">
            <a:normAutofit/>
          </a:bodyPr>
          <a:lstStyle/>
          <a:p>
            <a:pPr>
              <a:buFont typeface="Calibri" pitchFamily="18" charset="0"/>
              <a:buChar char="-"/>
            </a:pPr>
            <a:r>
              <a:rPr lang="tr-TR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GitHub</a:t>
            </a:r>
            <a:r>
              <a:rPr lang="tr-T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reposu  nasıl açılır </a:t>
            </a:r>
          </a:p>
          <a:p>
            <a:pPr>
              <a:buFont typeface="Calibri" pitchFamily="18" charset="0"/>
              <a:buChar char="-"/>
            </a:pPr>
            <a:r>
              <a:rPr lang="tr-TR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Jupyter</a:t>
            </a:r>
            <a:r>
              <a:rPr lang="tr-T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notebook nedir, nasıl kullanılır </a:t>
            </a:r>
          </a:p>
          <a:p>
            <a:pPr>
              <a:buClr>
                <a:srgbClr val="262626"/>
              </a:buClr>
              <a:buFont typeface="Calibri" pitchFamily="18" charset="0"/>
              <a:buChar char="-"/>
            </a:pPr>
            <a:r>
              <a:rPr lang="tr-T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Araştırma konusu ve problem tanımlama</a:t>
            </a:r>
          </a:p>
        </p:txBody>
      </p:sp>
      <p:cxnSp>
        <p:nvCxnSpPr>
          <p:cNvPr id="14" name="Straight Connector 18">
            <a:extLst>
              <a:ext uri="{FF2B5EF4-FFF2-40B4-BE49-F238E27FC236}">
                <a16:creationId xmlns:a16="http://schemas.microsoft.com/office/drawing/2014/main" id="{0DD76B5F-5BAA-48C6-9065-9AEF15D30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05731" y="2057401"/>
            <a:ext cx="0" cy="2743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0E096F2-3CEC-78C2-F5B9-8BAAFA47C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519" y="5714047"/>
            <a:ext cx="5120640" cy="274320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300">
                <a:solidFill>
                  <a:schemeClr val="tx1"/>
                </a:solidFill>
              </a:rPr>
              <a:t>
              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BB9D03F-EBCD-5183-E8A3-7EE37190AD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32835" y="5714047"/>
            <a:ext cx="2103120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F8A5B87-ABA9-42B7-B131-1B3882A405DC}" type="datetime1">
              <a:pPr>
                <a:spcAft>
                  <a:spcPts val="600"/>
                </a:spcAft>
              </a:pPr>
              <a:t>10/15/2025</a:t>
            </a:fld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4C594C3-6347-6E3E-F598-E96900BE3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22113" y="5714047"/>
            <a:ext cx="548640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830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E25BDA2-3F4D-4B38-90E7-989465ECD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shade val="92000"/>
                  <a:satMod val="160000"/>
                </a:schemeClr>
              </a:gs>
              <a:gs pos="77000">
                <a:schemeClr val="bg2">
                  <a:tint val="100000"/>
                  <a:shade val="73000"/>
                  <a:satMod val="155000"/>
                </a:schemeClr>
              </a:gs>
              <a:gs pos="100000">
                <a:schemeClr val="bg2">
                  <a:tint val="100000"/>
                  <a:shade val="67000"/>
                  <a:satMod val="14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5EEA05-AD42-442F-B6C6-CB9FC2894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96869A-A70D-42F7-876F-605CB1718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108" y="610955"/>
            <a:ext cx="10927784" cy="563609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D407CC-EF5C-486F-9A14-7F681F98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052" y="777240"/>
            <a:ext cx="10597896" cy="5303520"/>
          </a:xfrm>
          <a:prstGeom prst="rect">
            <a:avLst/>
          </a:prstGeom>
          <a:solidFill>
            <a:schemeClr val="bg1"/>
          </a:solidFill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F79C87B-1568-BA44-3FF7-64EA752CD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835" y="1420706"/>
            <a:ext cx="3466540" cy="4016587"/>
          </a:xfrm>
        </p:spPr>
        <p:txBody>
          <a:bodyPr>
            <a:normAutofit/>
          </a:bodyPr>
          <a:lstStyle/>
          <a:p>
            <a:endParaRPr lang="tr-TR" sz="360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3AB9382-B3B3-399A-B9BC-7A7874527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519" y="1420706"/>
            <a:ext cx="5514758" cy="40165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buFont typeface="Arial" pitchFamily="18" charset="0"/>
              <a:buChar char="•"/>
            </a:pPr>
            <a:r>
              <a:rPr lang="tr-TR" sz="2800" dirty="0">
                <a:solidFill>
                  <a:srgbClr val="00B0F0"/>
                </a:solidFill>
              </a:rPr>
              <a:t> </a:t>
            </a:r>
            <a:r>
              <a:rPr lang="tr-TR" sz="2800" dirty="0" err="1">
                <a:solidFill>
                  <a:srgbClr val="00B0F0"/>
                </a:solidFill>
              </a:rPr>
              <a:t>GitHub</a:t>
            </a:r>
            <a:r>
              <a:rPr lang="tr-TR" sz="2800" dirty="0">
                <a:solidFill>
                  <a:srgbClr val="00B0F0"/>
                </a:solidFill>
              </a:rPr>
              <a:t> reposu açma</a:t>
            </a:r>
            <a:endParaRPr lang="tr-TR" dirty="0"/>
          </a:p>
          <a:p>
            <a:pPr marL="0" indent="0">
              <a:buNone/>
            </a:pP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1-  Bir web tarayıcısında </a:t>
            </a: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  <a:hlinkClick r:id="rId3"/>
              </a:rPr>
              <a:t>https</a:t>
            </a: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hlinkClick r:id="rId3"/>
              </a:rPr>
              <a:t>://github.com/</a:t>
            </a: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 adresine gidin.</a:t>
            </a: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endParaRPr lang="tr-TR"/>
          </a:p>
          <a:p>
            <a:pPr marL="0" indent="0">
              <a:buNone/>
            </a:pP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2- Ana sayfada bulunan "</a:t>
            </a:r>
            <a:r>
              <a:rPr lang="tr-T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Sign</a:t>
            </a: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tr-T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up</a:t>
            </a: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 (Kaydol) veya benzeri bir düğmeye tıklayın.</a:t>
            </a:r>
          </a:p>
          <a:p>
            <a:pPr marL="0" indent="0">
              <a:buNone/>
            </a:pP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3- İstenen </a:t>
            </a:r>
            <a:r>
              <a:rPr lang="tr-T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bigileri</a:t>
            </a: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girin:</a:t>
            </a:r>
          </a:p>
          <a:p>
            <a:pPr marL="285750" indent="-285750">
              <a:buFont typeface="Arial" pitchFamily="18" charset="0"/>
              <a:buChar char="•"/>
            </a:pP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 – posta adresinizi girin.</a:t>
            </a:r>
          </a:p>
          <a:p>
            <a:pPr marL="285750" indent="-285750">
              <a:buClr>
                <a:srgbClr val="262626"/>
              </a:buClr>
              <a:buFont typeface="Arial" pitchFamily="18" charset="0"/>
              <a:buChar char="•"/>
            </a:pP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Yeni </a:t>
            </a:r>
            <a:r>
              <a:rPr lang="tr-T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heabınız</a:t>
            </a: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için bir parola oluşturun .</a:t>
            </a:r>
          </a:p>
          <a:p>
            <a:pPr marL="285750" indent="-285750">
              <a:buClr>
                <a:srgbClr val="262626"/>
              </a:buClr>
              <a:buFont typeface="Arial" pitchFamily="18" charset="0"/>
              <a:buChar char="•"/>
            </a:pP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Bir kullanıcı adı belirleyin.</a:t>
            </a:r>
          </a:p>
          <a:p>
            <a:pPr marL="0" indent="0">
              <a:buClr>
                <a:srgbClr val="262626"/>
              </a:buClr>
              <a:buNone/>
            </a:pP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4- "</a:t>
            </a:r>
            <a:r>
              <a:rPr lang="tr-T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Continue</a:t>
            </a: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"(Devam) tuşuna basın.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D76B5F-5BAA-48C6-9065-9AEF15D30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05731" y="2057401"/>
            <a:ext cx="0" cy="2743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Resim 3" descr="logo, grafik, yazı tipi, simge, sembo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9B6B9EE-B7EF-CFED-211F-FC061DFAD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738" y="2047516"/>
            <a:ext cx="3466561" cy="313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652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E25BDA2-3F4D-4B38-90E7-989465ECD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shade val="92000"/>
                  <a:satMod val="160000"/>
                </a:schemeClr>
              </a:gs>
              <a:gs pos="77000">
                <a:schemeClr val="bg2">
                  <a:tint val="100000"/>
                  <a:shade val="73000"/>
                  <a:satMod val="155000"/>
                </a:schemeClr>
              </a:gs>
              <a:gs pos="100000">
                <a:schemeClr val="bg2">
                  <a:tint val="100000"/>
                  <a:shade val="67000"/>
                  <a:satMod val="14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F65EEA05-AD42-442F-B6C6-CB9FC2894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BC96869A-A70D-42F7-876F-605CB1718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108" y="610955"/>
            <a:ext cx="10927784" cy="563609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6CD407CC-EF5C-486F-9A14-7F681F98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052" y="777240"/>
            <a:ext cx="10597896" cy="5303520"/>
          </a:xfrm>
          <a:prstGeom prst="rect">
            <a:avLst/>
          </a:prstGeom>
          <a:solidFill>
            <a:schemeClr val="bg1"/>
          </a:solidFill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CF6235B-9BBA-860E-887F-8AD4B15D2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835" y="1420706"/>
            <a:ext cx="3466540" cy="4016587"/>
          </a:xfrm>
        </p:spPr>
        <p:txBody>
          <a:bodyPr>
            <a:normAutofit/>
          </a:bodyPr>
          <a:lstStyle/>
          <a:p>
            <a:endParaRPr lang="tr-TR" sz="360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13DB791-3EA3-11A8-CFAB-F74E8FAC1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519" y="1420706"/>
            <a:ext cx="5687286" cy="401658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6- Hesabınızı doğrulamak için çıkan bulmacayı çözün.</a:t>
            </a:r>
            <a:endParaRPr lang="tr-TR"/>
          </a:p>
          <a:p>
            <a:pPr marL="0" indent="0">
              <a:buClr>
                <a:srgbClr val="262626"/>
              </a:buClr>
              <a:buNone/>
            </a:pP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7- "</a:t>
            </a:r>
            <a:r>
              <a:rPr lang="tr-TR" err="1">
                <a:solidFill>
                  <a:schemeClr val="tx1">
                    <a:lumMod val="75000"/>
                    <a:lumOff val="25000"/>
                  </a:schemeClr>
                </a:solidFill>
              </a:rPr>
              <a:t>Create</a:t>
            </a: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tr-TR" err="1">
                <a:solidFill>
                  <a:schemeClr val="tx1">
                    <a:lumMod val="75000"/>
                    <a:lumOff val="25000"/>
                  </a:schemeClr>
                </a:solidFill>
              </a:rPr>
              <a:t>account</a:t>
            </a: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"(Hesap oluştur) düğmesine tıklayın.</a:t>
            </a:r>
          </a:p>
          <a:p>
            <a:pPr marL="0" indent="0">
              <a:buClr>
                <a:srgbClr val="262626"/>
              </a:buClr>
              <a:buNone/>
            </a:pP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8- </a:t>
            </a:r>
            <a:r>
              <a:rPr lang="tr-T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GitHub'ın</a:t>
            </a: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size gönderdiği doğrulama kodunu e – posta adresinizden alın ve ilgili alana girin.</a:t>
            </a:r>
          </a:p>
          <a:p>
            <a:pPr marL="0" indent="0">
              <a:buNone/>
            </a:pPr>
            <a:endParaRPr lang="tr-TR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Ve artık bir </a:t>
            </a:r>
            <a:r>
              <a:rPr lang="tr-T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GitHub</a:t>
            </a: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tr-T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heasabınız</a:t>
            </a: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var 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D76B5F-5BAA-48C6-9065-9AEF15D30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05731" y="2057401"/>
            <a:ext cx="0" cy="2743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Resim 3" descr="logo, grafik, yazı tipi, simge, sembo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E0B1AC1-59EA-0E0F-1A8A-2768CC89E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738" y="1918120"/>
            <a:ext cx="3466561" cy="300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513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009E310-C7C2-4F23-B466-4417C8ED3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shade val="92000"/>
                  <a:satMod val="160000"/>
                </a:schemeClr>
              </a:gs>
              <a:gs pos="77000">
                <a:schemeClr val="bg2">
                  <a:tint val="100000"/>
                  <a:shade val="73000"/>
                  <a:satMod val="155000"/>
                </a:schemeClr>
              </a:gs>
              <a:gs pos="100000">
                <a:schemeClr val="bg2">
                  <a:tint val="100000"/>
                  <a:shade val="67000"/>
                  <a:satMod val="14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A4F4A1-146B-4D29-852A-F60996679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C31FF5-F97E-4082-BFC5-A880DB9F3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1150" y="457200"/>
            <a:ext cx="8533646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5B4CE-42DE-4E9B-B800-B5B8142E6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2467" y="621793"/>
            <a:ext cx="8198780" cy="5614416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2D081A2-623C-81A3-4D4F-3F20B1E79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616" y="881210"/>
            <a:ext cx="7417925" cy="1517035"/>
          </a:xfrm>
        </p:spPr>
        <p:txBody>
          <a:bodyPr>
            <a:normAutofit/>
          </a:bodyPr>
          <a:lstStyle/>
          <a:p>
            <a:pPr marL="457200" indent="-457200">
              <a:buFont typeface="Wingdings"/>
              <a:buChar char="v"/>
            </a:pPr>
            <a:r>
              <a:rPr lang="tr-TR" sz="2800" err="1">
                <a:solidFill>
                  <a:srgbClr val="00B0F0"/>
                </a:solidFill>
              </a:rPr>
              <a:t>Jupyter</a:t>
            </a:r>
            <a:r>
              <a:rPr lang="tr-TR" sz="2800">
                <a:solidFill>
                  <a:srgbClr val="00B0F0"/>
                </a:solidFill>
              </a:rPr>
              <a:t> Notebook nedir ?</a:t>
            </a:r>
            <a:endParaRPr lang="tr-TR">
              <a:solidFill>
                <a:srgbClr val="00B0F0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CD8DA44-1F6D-053C-768D-DF6E8E104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4616" y="2626840"/>
            <a:ext cx="7245103" cy="3131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Jupyter</a:t>
            </a:r>
            <a:r>
              <a:rPr lang="tr-T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Notebook ; kodları, kod çıktılarını ve açıklayıcı metinleri tek bir etkileşimli belge içinde bir araya getiren açık kaynaklı bir web </a:t>
            </a:r>
            <a:r>
              <a:rPr lang="tr-TR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uygulamasıdır.Bu</a:t>
            </a:r>
            <a:r>
              <a:rPr lang="tr-T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araç , özellikle veri bilimi ve analitik projelerinde tercih edilir çünkü kullanıcılar kod bloklarını adım adım çalıştırabilir , sonuçları anında görselleştirebilir ve tüm analiz sürecini mantıksal bir akış içinde belgeleyebilir. Bu sayede yapılan çalışmanın hem hızlı test edilmesi hem de başkalarıyla kolayca paylaşılması mümkün olur.</a:t>
            </a:r>
          </a:p>
        </p:txBody>
      </p:sp>
    </p:spTree>
    <p:extLst>
      <p:ext uri="{BB962C8B-B14F-4D97-AF65-F5344CB8AC3E}">
        <p14:creationId xmlns:p14="http://schemas.microsoft.com/office/powerpoint/2010/main" val="1946896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E25BDA2-3F4D-4B38-90E7-989465ECD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shade val="92000"/>
                  <a:satMod val="160000"/>
                </a:schemeClr>
              </a:gs>
              <a:gs pos="77000">
                <a:schemeClr val="bg2">
                  <a:tint val="100000"/>
                  <a:shade val="73000"/>
                  <a:satMod val="155000"/>
                </a:schemeClr>
              </a:gs>
              <a:gs pos="100000">
                <a:schemeClr val="bg2">
                  <a:tint val="100000"/>
                  <a:shade val="67000"/>
                  <a:satMod val="14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5EEA05-AD42-442F-B6C6-CB9FC2894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96869A-A70D-42F7-876F-605CB1718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108" y="610955"/>
            <a:ext cx="10927784" cy="563609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D407CC-EF5C-486F-9A14-7F681F98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052" y="777240"/>
            <a:ext cx="10597896" cy="5303520"/>
          </a:xfrm>
          <a:prstGeom prst="rect">
            <a:avLst/>
          </a:prstGeom>
          <a:solidFill>
            <a:schemeClr val="bg1"/>
          </a:solidFill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795EB1B-F9AA-E2FF-0A06-83881C35B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835" y="1420706"/>
            <a:ext cx="3466540" cy="4016587"/>
          </a:xfrm>
        </p:spPr>
        <p:txBody>
          <a:bodyPr>
            <a:normAutofit/>
          </a:bodyPr>
          <a:lstStyle/>
          <a:p>
            <a:endParaRPr lang="tr-TR" sz="360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CF593F6-CB13-B0B5-5767-F0A5F103B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519" y="1420706"/>
            <a:ext cx="5514758" cy="4016587"/>
          </a:xfrm>
        </p:spPr>
        <p:txBody>
          <a:bodyPr anchor="ctr">
            <a:normAutofit fontScale="92500" lnSpcReduction="10000"/>
          </a:bodyPr>
          <a:lstStyle/>
          <a:p>
            <a:pPr marL="285750" indent="-285750">
              <a:buClr>
                <a:srgbClr val="262626"/>
              </a:buClr>
              <a:buFont typeface="Wingdings" pitchFamily="18" charset="0"/>
              <a:buChar char="v"/>
            </a:pPr>
            <a:r>
              <a:rPr lang="tr-TR" sz="2400" err="1">
                <a:solidFill>
                  <a:srgbClr val="00B0F0"/>
                </a:solidFill>
              </a:rPr>
              <a:t>Jupyter</a:t>
            </a:r>
            <a:r>
              <a:rPr lang="tr-TR" sz="2400" dirty="0">
                <a:solidFill>
                  <a:srgbClr val="00B0F0"/>
                </a:solidFill>
              </a:rPr>
              <a:t> Notebook nasıl kullanılır ?</a:t>
            </a:r>
          </a:p>
          <a:p>
            <a:pPr marL="0" indent="0">
              <a:buClr>
                <a:srgbClr val="262626"/>
              </a:buClr>
              <a:buNone/>
            </a:pPr>
            <a:r>
              <a:rPr lang="tr-T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Jupyter</a:t>
            </a:r>
            <a:r>
              <a:rPr lang="tr-T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Notebook'u kullanmak için öncelikle komut satırında </a:t>
            </a:r>
            <a:r>
              <a:rPr lang="tr-T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jupyter</a:t>
            </a:r>
            <a:r>
              <a:rPr lang="tr-T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notebook yazıp uygulamayı açarsınız. </a:t>
            </a:r>
          </a:p>
          <a:p>
            <a:pPr marL="0" indent="0">
              <a:buNone/>
            </a:pPr>
            <a:r>
              <a:rPr lang="tr-T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Yeni bir dosya oluşturduktan sonra , sayfadaki hücrelere kodunuzu yazar ve </a:t>
            </a:r>
            <a:r>
              <a:rPr lang="tr-T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Shift</a:t>
            </a:r>
            <a:r>
              <a:rPr lang="tr-T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+ </a:t>
            </a:r>
            <a:r>
              <a:rPr lang="tr-T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Enter</a:t>
            </a:r>
            <a:r>
              <a:rPr lang="tr-T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tuşuna basarak </a:t>
            </a:r>
            <a:r>
              <a:rPr lang="tr-T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çalıştırırsınız.Kodun</a:t>
            </a:r>
            <a:r>
              <a:rPr lang="tr-T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sonucu hemen altında görünür.</a:t>
            </a:r>
          </a:p>
          <a:p>
            <a:pPr marL="0" indent="0">
              <a:buNone/>
            </a:pPr>
            <a:r>
              <a:rPr lang="tr-T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Açıklama veya not eklemek isterseniz , hücre tipini koda değil , metne çevirirsiniz.</a:t>
            </a:r>
          </a:p>
          <a:p>
            <a:pPr marL="0" indent="0">
              <a:buNone/>
            </a:pPr>
            <a:r>
              <a:rPr lang="tr-T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Temelde , kod yazıp çalıştırdığınız ve sonuçları anında gördüğünüz , not almayı kolaylaştıran bir defter gibi çalışır.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D76B5F-5BAA-48C6-9065-9AEF15D30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05731" y="2057401"/>
            <a:ext cx="0" cy="2743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Resim 3" descr="yazı tipi, logo, grafik, meti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D540B17-AE49-25ED-D34A-E24879843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460" y="1419495"/>
            <a:ext cx="3848100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775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009E310-C7C2-4F23-B466-4417C8ED3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shade val="92000"/>
                  <a:satMod val="160000"/>
                </a:schemeClr>
              </a:gs>
              <a:gs pos="77000">
                <a:schemeClr val="bg2">
                  <a:tint val="100000"/>
                  <a:shade val="73000"/>
                  <a:satMod val="155000"/>
                </a:schemeClr>
              </a:gs>
              <a:gs pos="100000">
                <a:schemeClr val="bg2">
                  <a:tint val="100000"/>
                  <a:shade val="67000"/>
                  <a:satMod val="14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A4F4A1-146B-4D29-852A-F60996679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C31FF5-F97E-4082-BFC5-A880DB9F3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1150" y="457200"/>
            <a:ext cx="8533646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5B4CE-42DE-4E9B-B800-B5B8142E6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2467" y="621793"/>
            <a:ext cx="8198780" cy="5614416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8105312-E14E-D1D3-261A-D4451FDB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616" y="881210"/>
            <a:ext cx="7417925" cy="1517035"/>
          </a:xfrm>
        </p:spPr>
        <p:txBody>
          <a:bodyPr>
            <a:normAutofit/>
          </a:bodyPr>
          <a:lstStyle/>
          <a:p>
            <a:pPr marL="457200" indent="-457200">
              <a:buFont typeface="Wingdings"/>
              <a:buChar char="v"/>
            </a:pPr>
            <a:r>
              <a:rPr lang="tr-TR" sz="3200">
                <a:solidFill>
                  <a:srgbClr val="00B0F0"/>
                </a:solidFill>
              </a:rPr>
              <a:t>Araştırma konusunu nasıl seç</a:t>
            </a:r>
            <a:r>
              <a:rPr lang="tr-TR" sz="2800">
                <a:solidFill>
                  <a:srgbClr val="00B0F0"/>
                </a:solidFill>
              </a:rPr>
              <a:t>tik ?</a:t>
            </a:r>
            <a:endParaRPr lang="tr-TR">
              <a:solidFill>
                <a:srgbClr val="00B0F0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1AD1C56-B300-5B21-1B76-0ED4B33C4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4616" y="2626840"/>
            <a:ext cx="7245103" cy="3131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Ekip arkadaşlarımızla birlikte proje konusunu seçerken konunun güncel olmasına , yaparken bizimde zevk alacağımız bir konu olmasına dikkat ettik.</a:t>
            </a:r>
          </a:p>
          <a:p>
            <a:pPr marL="0" indent="0">
              <a:buNone/>
            </a:pPr>
            <a:r>
              <a:rPr lang="tr-T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Ve problem olarak dijitalleşmenin toplumsal etkileri konusunu bulduk.</a:t>
            </a:r>
          </a:p>
        </p:txBody>
      </p:sp>
    </p:spTree>
    <p:extLst>
      <p:ext uri="{BB962C8B-B14F-4D97-AF65-F5344CB8AC3E}">
        <p14:creationId xmlns:p14="http://schemas.microsoft.com/office/powerpoint/2010/main" val="2230544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8">
            <a:extLst>
              <a:ext uri="{FF2B5EF4-FFF2-40B4-BE49-F238E27FC236}">
                <a16:creationId xmlns:a16="http://schemas.microsoft.com/office/drawing/2014/main" id="{A009E310-C7C2-4F23-B466-4417C8ED3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shade val="92000"/>
                  <a:satMod val="160000"/>
                </a:schemeClr>
              </a:gs>
              <a:gs pos="77000">
                <a:schemeClr val="bg2">
                  <a:tint val="100000"/>
                  <a:shade val="73000"/>
                  <a:satMod val="155000"/>
                </a:schemeClr>
              </a:gs>
              <a:gs pos="100000">
                <a:schemeClr val="bg2">
                  <a:tint val="100000"/>
                  <a:shade val="67000"/>
                  <a:satMod val="14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Rectangle 20">
            <a:extLst>
              <a:ext uri="{FF2B5EF4-FFF2-40B4-BE49-F238E27FC236}">
                <a16:creationId xmlns:a16="http://schemas.microsoft.com/office/drawing/2014/main" id="{51A4F4A1-146B-4D29-852A-F60996679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2">
            <a:extLst>
              <a:ext uri="{FF2B5EF4-FFF2-40B4-BE49-F238E27FC236}">
                <a16:creationId xmlns:a16="http://schemas.microsoft.com/office/drawing/2014/main" id="{A4C31FF5-F97E-4082-BFC5-A880DB9F3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1150" y="457200"/>
            <a:ext cx="8533646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8" name="Rectangle 24">
            <a:extLst>
              <a:ext uri="{FF2B5EF4-FFF2-40B4-BE49-F238E27FC236}">
                <a16:creationId xmlns:a16="http://schemas.microsoft.com/office/drawing/2014/main" id="{6015B4CE-42DE-4E9B-B800-B5B8142E6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2467" y="621793"/>
            <a:ext cx="8198780" cy="5614416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3B1080F-7A77-9C1F-9C38-891F906C1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616" y="881210"/>
            <a:ext cx="7417925" cy="4033072"/>
          </a:xfrm>
        </p:spPr>
        <p:txBody>
          <a:bodyPr>
            <a:normAutofit/>
          </a:bodyPr>
          <a:lstStyle/>
          <a:p>
            <a:r>
              <a:rPr lang="tr-TR">
                <a:solidFill>
                  <a:schemeClr val="tx1">
                    <a:lumMod val="75000"/>
                    <a:lumOff val="25000"/>
                  </a:schemeClr>
                </a:solidFill>
              </a:rPr>
              <a:t>Beni dinlediğiniz için teşekkürler.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1F7A797-52A8-148B-E461-27CC685A3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4616" y="2626840"/>
            <a:ext cx="7245103" cy="3131777"/>
          </a:xfrm>
        </p:spPr>
        <p:txBody>
          <a:bodyPr>
            <a:normAutofit/>
          </a:bodyPr>
          <a:lstStyle/>
          <a:p>
            <a:endParaRPr lang="tr-TR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5495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9" baseType="lpstr">
      <vt:lpstr>Savon</vt:lpstr>
      <vt:lpstr>Araştırma yöntem ve teknikleri  merve şen</vt:lpstr>
      <vt:lpstr>PowerPoint Sunusu</vt:lpstr>
      <vt:lpstr>PowerPoint Sunusu</vt:lpstr>
      <vt:lpstr>PowerPoint Sunusu</vt:lpstr>
      <vt:lpstr>Jupyter Notebook nedir ?</vt:lpstr>
      <vt:lpstr>PowerPoint Sunusu</vt:lpstr>
      <vt:lpstr>Araştırma konusunu nasıl seçtik ?</vt:lpstr>
      <vt:lpstr>Beni dinlediğiniz için teşekkürler.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566</cp:revision>
  <dcterms:created xsi:type="dcterms:W3CDTF">2025-10-15T17:15:35Z</dcterms:created>
  <dcterms:modified xsi:type="dcterms:W3CDTF">2025-10-15T19:07:04Z</dcterms:modified>
</cp:coreProperties>
</file>
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3" r:id="rId5"/>
    <p:sldId id="260" r:id="rId6"/>
    <p:sldId id="261" r:id="rId7"/>
    <p:sldId id="262" r:id="rId8"/>
    <p:sldId id="264" r:id="rId9"/>
    <p:sldId id="265" r:id="rId10"/>
    <p:sldId id="266" r:id="rId11"/>
    <p:sldId id="267" r:id="rId12"/>
    <p:sldId id="268" r:id="rId13"/>
    <p:sldId id="269" r:id="rId14"/>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21D16F-74B6-4F97-97EA-F10FBFBF1243}" v="1095" dt="2025-11-05T18:07:40.028"/>
    <p1510:client id="{27A9484D-6412-4361-A899-4437EB402B9D}" v="222" dt="2025-11-05T16:07:50.5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5" autoAdjust="0"/>
    <p:restoredTop sz="94660"/>
  </p:normalViewPr>
  <p:slideViewPr>
    <p:cSldViewPr snapToGrid="0">
      <p:cViewPr varScale="1">
        <p:scale>
          <a:sx n="86" d="100"/>
          <a:sy n="86" d="100"/>
        </p:scale>
        <p:origin x="66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p:cNvSpPr>
            <a:spLocks noGrp="1"/>
          </p:cNvSpPr>
          <p:nvPr>
            <p:ph type="ctrTitle"/>
          </p:nvPr>
        </p:nvSpPr>
        <p:spPr>
          <a:xfrm>
            <a:off x="1524000" y="1122363"/>
            <a:ext cx="9144000" cy="2387600"/>
          </a:xfrm>
        </p:spPr>
        <p:txBody>
          <a:bodyPr anchor="b"/>
          <a:lstStyle>
            <a:lvl1pPr algn="ctr">
              <a:defRPr sz="6000"/>
            </a:lvl1pPr>
          </a:lstStyle>
          <a:p>
            <a:r>
              <a:rPr lang="tr-TR"/>
              <a:t>Asıl başlık stili için tıklatın</a:t>
            </a:r>
          </a:p>
        </p:txBody>
      </p:sp>
      <p:sp>
        <p:nvSpPr>
          <p:cNvPr id="3" name="Alt Başlık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tıklatın</a:t>
            </a:r>
          </a:p>
        </p:txBody>
      </p:sp>
      <p:sp>
        <p:nvSpPr>
          <p:cNvPr id="4" name="Veri Yer Tutucusu 3"/>
          <p:cNvSpPr>
            <a:spLocks noGrp="1"/>
          </p:cNvSpPr>
          <p:nvPr>
            <p:ph type="dt" sz="half" idx="10"/>
          </p:nvPr>
        </p:nvSpPr>
        <p:spPr/>
        <p:txBody>
          <a:bodyPr/>
          <a:lstStyle/>
          <a:p>
            <a:fld id="{E2072480-10DA-4FB4-BEAE-2A1DEA90F248}" type="datetimeFigureOut">
              <a:rPr lang="tr-TR" smtClean="0"/>
              <a:t>5.11.2025</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34409947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İçerik Yer Tutucusu 2"/>
          <p:cNvSpPr>
            <a:spLocks noGrp="1"/>
          </p:cNvSpPr>
          <p:nvPr>
            <p:ph idx="1"/>
          </p:nvPr>
        </p:nvSpPr>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E2072480-10DA-4FB4-BEAE-2A1DEA90F248}" type="datetimeFigureOut">
              <a:rPr lang="tr-TR" smtClean="0"/>
              <a:t>5.11.2025</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39443195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Başlık 1"/>
          <p:cNvSpPr>
            <a:spLocks noGrp="1"/>
          </p:cNvSpPr>
          <p:nvPr>
            <p:ph type="title"/>
          </p:nvPr>
        </p:nvSpPr>
        <p:spPr>
          <a:xfrm>
            <a:off x="831850" y="1709738"/>
            <a:ext cx="10515600" cy="2852737"/>
          </a:xfrm>
        </p:spPr>
        <p:txBody>
          <a:bodyPr anchor="b"/>
          <a:lstStyle>
            <a:lvl1pPr>
              <a:defRPr sz="6000"/>
            </a:lvl1pPr>
          </a:lstStyle>
          <a:p>
            <a:r>
              <a:rPr lang="tr-TR"/>
              <a:t>Asıl başlık stili için tıklatın</a:t>
            </a:r>
          </a:p>
        </p:txBody>
      </p:sp>
      <p:sp>
        <p:nvSpPr>
          <p:cNvPr id="3" name="Metin Yer Tutucusu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tr-TR"/>
              <a:t>Asıl metin stillerini düzenlemek için tıklatın</a:t>
            </a:r>
          </a:p>
        </p:txBody>
      </p:sp>
      <p:sp>
        <p:nvSpPr>
          <p:cNvPr id="4" name="Veri Yer Tutucusu 3"/>
          <p:cNvSpPr>
            <a:spLocks noGrp="1"/>
          </p:cNvSpPr>
          <p:nvPr>
            <p:ph type="dt" sz="half" idx="10"/>
          </p:nvPr>
        </p:nvSpPr>
        <p:spPr/>
        <p:txBody>
          <a:bodyPr/>
          <a:lstStyle/>
          <a:p>
            <a:fld id="{E2072480-10DA-4FB4-BEAE-2A1DEA90F248}" type="datetimeFigureOut">
              <a:rPr lang="tr-TR" smtClean="0"/>
              <a:t>5.11.2025</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11968333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İçerik Yer Tutucusu 2"/>
          <p:cNvSpPr>
            <a:spLocks noGrp="1"/>
          </p:cNvSpPr>
          <p:nvPr>
            <p:ph sz="half" idx="1"/>
          </p:nvPr>
        </p:nvSpPr>
        <p:spPr>
          <a:xfrm>
            <a:off x="838200" y="1825625"/>
            <a:ext cx="5181600" cy="4351338"/>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p:cNvSpPr>
            <a:spLocks noGrp="1"/>
          </p:cNvSpPr>
          <p:nvPr>
            <p:ph sz="half" idx="2"/>
          </p:nvPr>
        </p:nvSpPr>
        <p:spPr>
          <a:xfrm>
            <a:off x="6172200" y="1825625"/>
            <a:ext cx="5181600" cy="4351338"/>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p:cNvSpPr>
            <a:spLocks noGrp="1"/>
          </p:cNvSpPr>
          <p:nvPr>
            <p:ph type="dt" sz="half" idx="10"/>
          </p:nvPr>
        </p:nvSpPr>
        <p:spPr/>
        <p:txBody>
          <a:bodyPr/>
          <a:lstStyle/>
          <a:p>
            <a:fld id="{E2072480-10DA-4FB4-BEAE-2A1DEA90F248}" type="datetimeFigureOut">
              <a:rPr lang="tr-TR" smtClean="0"/>
              <a:t>5.11.2025</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36527971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a:xfrm>
            <a:off x="839788" y="365125"/>
            <a:ext cx="10515600" cy="1325563"/>
          </a:xfrm>
        </p:spPr>
        <p:txBody>
          <a:bodyPr/>
          <a:lstStyle/>
          <a:p>
            <a:r>
              <a:rPr lang="tr-TR"/>
              <a:t>Asıl başlık stili için tıklatın</a:t>
            </a:r>
          </a:p>
        </p:txBody>
      </p:sp>
      <p:sp>
        <p:nvSpPr>
          <p:cNvPr id="3" name="Metin Yer Tutucusu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4" name="İçerik Yer Tutucusu 3"/>
          <p:cNvSpPr>
            <a:spLocks noGrp="1"/>
          </p:cNvSpPr>
          <p:nvPr>
            <p:ph sz="half" idx="2"/>
          </p:nvPr>
        </p:nvSpPr>
        <p:spPr>
          <a:xfrm>
            <a:off x="839788" y="2505075"/>
            <a:ext cx="5157787" cy="3684588"/>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6" name="İçerik Yer Tutucusu 5"/>
          <p:cNvSpPr>
            <a:spLocks noGrp="1"/>
          </p:cNvSpPr>
          <p:nvPr>
            <p:ph sz="quarter" idx="4"/>
          </p:nvPr>
        </p:nvSpPr>
        <p:spPr>
          <a:xfrm>
            <a:off x="6172200" y="2505075"/>
            <a:ext cx="5183188" cy="3684588"/>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p:cNvSpPr>
            <a:spLocks noGrp="1"/>
          </p:cNvSpPr>
          <p:nvPr>
            <p:ph type="dt" sz="half" idx="10"/>
          </p:nvPr>
        </p:nvSpPr>
        <p:spPr/>
        <p:txBody>
          <a:bodyPr/>
          <a:lstStyle/>
          <a:p>
            <a:fld id="{E2072480-10DA-4FB4-BEAE-2A1DEA90F248}" type="datetimeFigureOut">
              <a:rPr lang="tr-TR" smtClean="0"/>
              <a:t>5.11.2025</a:t>
            </a:fld>
            <a:endParaRPr lang="tr-TR"/>
          </a:p>
        </p:txBody>
      </p:sp>
      <p:sp>
        <p:nvSpPr>
          <p:cNvPr id="8" name="Altbilgi Yer Tutucusu 7"/>
          <p:cNvSpPr>
            <a:spLocks noGrp="1"/>
          </p:cNvSpPr>
          <p:nvPr>
            <p:ph type="ftr" sz="quarter" idx="11"/>
          </p:nvPr>
        </p:nvSpPr>
        <p:spPr/>
        <p:txBody>
          <a:bodyPr/>
          <a:lstStyle/>
          <a:p>
            <a:endParaRPr lang="tr-TR"/>
          </a:p>
        </p:txBody>
      </p:sp>
      <p:sp>
        <p:nvSpPr>
          <p:cNvPr id="9" name="Slayt Numarası Yer Tutucusu 8"/>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8467443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Veri Yer Tutucusu 2"/>
          <p:cNvSpPr>
            <a:spLocks noGrp="1"/>
          </p:cNvSpPr>
          <p:nvPr>
            <p:ph type="dt" sz="half" idx="10"/>
          </p:nvPr>
        </p:nvSpPr>
        <p:spPr/>
        <p:txBody>
          <a:bodyPr/>
          <a:lstStyle/>
          <a:p>
            <a:fld id="{E2072480-10DA-4FB4-BEAE-2A1DEA90F248}" type="datetimeFigureOut">
              <a:rPr lang="tr-TR" smtClean="0"/>
              <a:t>5.11.2025</a:t>
            </a:fld>
            <a:endParaRPr lang="tr-TR"/>
          </a:p>
        </p:txBody>
      </p:sp>
      <p:sp>
        <p:nvSpPr>
          <p:cNvPr id="4" name="Altbilgi Yer Tutucusu 3"/>
          <p:cNvSpPr>
            <a:spLocks noGrp="1"/>
          </p:cNvSpPr>
          <p:nvPr>
            <p:ph type="ftr" sz="quarter" idx="11"/>
          </p:nvPr>
        </p:nvSpPr>
        <p:spPr/>
        <p:txBody>
          <a:bodyPr/>
          <a:lstStyle/>
          <a:p>
            <a:endParaRPr lang="tr-TR"/>
          </a:p>
        </p:txBody>
      </p:sp>
      <p:sp>
        <p:nvSpPr>
          <p:cNvPr id="5" name="Slayt Numarası Yer Tutucusu 4"/>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2861482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fld id="{E2072480-10DA-4FB4-BEAE-2A1DEA90F248}" type="datetimeFigureOut">
              <a:rPr lang="tr-TR" smtClean="0"/>
              <a:t>5.11.2025</a:t>
            </a:fld>
            <a:endParaRPr lang="tr-TR"/>
          </a:p>
        </p:txBody>
      </p:sp>
      <p:sp>
        <p:nvSpPr>
          <p:cNvPr id="3" name="Altbilgi Yer Tutucusu 2"/>
          <p:cNvSpPr>
            <a:spLocks noGrp="1"/>
          </p:cNvSpPr>
          <p:nvPr>
            <p:ph type="ftr" sz="quarter" idx="11"/>
          </p:nvPr>
        </p:nvSpPr>
        <p:spPr/>
        <p:txBody>
          <a:bodyPr/>
          <a:lstStyle/>
          <a:p>
            <a:endParaRPr lang="tr-TR"/>
          </a:p>
        </p:txBody>
      </p:sp>
      <p:sp>
        <p:nvSpPr>
          <p:cNvPr id="4" name="Slayt Numarası Yer Tutucusu 3"/>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41998174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p:cNvSpPr>
            <a:spLocks noGrp="1"/>
          </p:cNvSpPr>
          <p:nvPr>
            <p:ph type="title"/>
          </p:nvPr>
        </p:nvSpPr>
        <p:spPr>
          <a:xfrm>
            <a:off x="839788" y="457200"/>
            <a:ext cx="3932237" cy="1600200"/>
          </a:xfrm>
        </p:spPr>
        <p:txBody>
          <a:bodyPr anchor="b"/>
          <a:lstStyle>
            <a:lvl1pPr>
              <a:defRPr sz="3200"/>
            </a:lvl1pPr>
          </a:lstStyle>
          <a:p>
            <a:r>
              <a:rPr lang="tr-TR"/>
              <a:t>Asıl başlık stili için tıklatın</a:t>
            </a:r>
          </a:p>
        </p:txBody>
      </p:sp>
      <p:sp>
        <p:nvSpPr>
          <p:cNvPr id="3" name="İçerik Yer Tutucus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tıklatın</a:t>
            </a:r>
          </a:p>
        </p:txBody>
      </p:sp>
      <p:sp>
        <p:nvSpPr>
          <p:cNvPr id="5" name="Veri Yer Tutucusu 4"/>
          <p:cNvSpPr>
            <a:spLocks noGrp="1"/>
          </p:cNvSpPr>
          <p:nvPr>
            <p:ph type="dt" sz="half" idx="10"/>
          </p:nvPr>
        </p:nvSpPr>
        <p:spPr/>
        <p:txBody>
          <a:bodyPr/>
          <a:lstStyle/>
          <a:p>
            <a:fld id="{E2072480-10DA-4FB4-BEAE-2A1DEA90F248}" type="datetimeFigureOut">
              <a:rPr lang="tr-TR" smtClean="0"/>
              <a:t>5.11.2025</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27009130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p:cNvSpPr>
            <a:spLocks noGrp="1"/>
          </p:cNvSpPr>
          <p:nvPr>
            <p:ph type="title"/>
          </p:nvPr>
        </p:nvSpPr>
        <p:spPr>
          <a:xfrm>
            <a:off x="839788" y="457200"/>
            <a:ext cx="3932237" cy="1600200"/>
          </a:xfrm>
        </p:spPr>
        <p:txBody>
          <a:bodyPr anchor="b"/>
          <a:lstStyle>
            <a:lvl1pPr>
              <a:defRPr sz="3200"/>
            </a:lvl1pPr>
          </a:lstStyle>
          <a:p>
            <a:r>
              <a:rPr lang="tr-TR"/>
              <a:t>Asıl başlık stili için tıklatın</a:t>
            </a:r>
          </a:p>
        </p:txBody>
      </p:sp>
      <p:sp>
        <p:nvSpPr>
          <p:cNvPr id="3" name="Resim Yer Tutucusu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tıklatın</a:t>
            </a:r>
          </a:p>
        </p:txBody>
      </p:sp>
      <p:sp>
        <p:nvSpPr>
          <p:cNvPr id="5" name="Veri Yer Tutucusu 4"/>
          <p:cNvSpPr>
            <a:spLocks noGrp="1"/>
          </p:cNvSpPr>
          <p:nvPr>
            <p:ph type="dt" sz="half" idx="10"/>
          </p:nvPr>
        </p:nvSpPr>
        <p:spPr/>
        <p:txBody>
          <a:bodyPr/>
          <a:lstStyle/>
          <a:p>
            <a:fld id="{E2072480-10DA-4FB4-BEAE-2A1DEA90F248}" type="datetimeFigureOut">
              <a:rPr lang="tr-TR" smtClean="0"/>
              <a:t>5.11.2025</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8181750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Dikey Metin Yer Tutucusu 2"/>
          <p:cNvSpPr>
            <a:spLocks noGrp="1"/>
          </p:cNvSpPr>
          <p:nvPr>
            <p:ph type="body" orient="vert" idx="1"/>
          </p:nvPr>
        </p:nvSpPr>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E2072480-10DA-4FB4-BEAE-2A1DEA90F248}" type="datetimeFigureOut">
              <a:rPr lang="tr-TR" smtClean="0"/>
              <a:t>5.11.2025</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8478748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8724900" y="365125"/>
            <a:ext cx="2628900" cy="5811838"/>
          </a:xfrm>
        </p:spPr>
        <p:txBody>
          <a:bodyPr vert="eaVert"/>
          <a:lstStyle/>
          <a:p>
            <a:r>
              <a:rPr lang="tr-TR"/>
              <a:t>Asıl başlık stili için tıklatın</a:t>
            </a:r>
          </a:p>
        </p:txBody>
      </p:sp>
      <p:sp>
        <p:nvSpPr>
          <p:cNvPr id="3" name="Dikey Metin Yer Tutucusu 2"/>
          <p:cNvSpPr>
            <a:spLocks noGrp="1"/>
          </p:cNvSpPr>
          <p:nvPr>
            <p:ph type="body" orient="vert" idx="1"/>
          </p:nvPr>
        </p:nvSpPr>
        <p:spPr>
          <a:xfrm>
            <a:off x="838200" y="365125"/>
            <a:ext cx="7734300" cy="5811838"/>
          </a:xfrm>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E2072480-10DA-4FB4-BEAE-2A1DEA90F248}" type="datetimeFigureOut">
              <a:rPr lang="tr-TR" smtClean="0"/>
              <a:t>5.11.2025</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8048566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 için tıklatın</a:t>
            </a:r>
          </a:p>
        </p:txBody>
      </p:sp>
      <p:sp>
        <p:nvSpPr>
          <p:cNvPr id="3" name="Metin Yer Tutucusu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072480-10DA-4FB4-BEAE-2A1DEA90F248}" type="datetimeFigureOut">
              <a:rPr lang="tr-TR" smtClean="0"/>
              <a:t>5.11.2025</a:t>
            </a:fld>
            <a:endParaRPr lang="tr-TR"/>
          </a:p>
        </p:txBody>
      </p:sp>
      <p:sp>
        <p:nvSpPr>
          <p:cNvPr id="5" name="Altbilgi Yer Tutucusu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tr-TR"/>
          </a:p>
        </p:txBody>
      </p:sp>
      <p:sp>
        <p:nvSpPr>
          <p:cNvPr id="6" name="Slayt Numarası Yer Tutucusu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20A84BC-3F9E-4B08-9743-FC4E27FA5126}" type="slidenum">
              <a:rPr lang="tr-TR" smtClean="0"/>
              <a:t>‹#›</a:t>
            </a:fld>
            <a:endParaRPr lang="tr-TR"/>
          </a:p>
        </p:txBody>
      </p:sp>
    </p:spTree>
    <p:extLst>
      <p:ext uri="{BB962C8B-B14F-4D97-AF65-F5344CB8AC3E}">
        <p14:creationId xmlns:p14="http://schemas.microsoft.com/office/powerpoint/2010/main" val="37124688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dergipark.org.tr/en/pub/@mozmen79" TargetMode="External"/><Relationship Id="rId2" Type="http://schemas.openxmlformats.org/officeDocument/2006/relationships/hyperlink" Target="https://dergipark.org.tr/en/pub/@betulersoz" TargetMode="External"/><Relationship Id="rId1" Type="http://schemas.openxmlformats.org/officeDocument/2006/relationships/slideLayout" Target="../slideLayouts/slideLayout2.xml"/><Relationship Id="rId4" Type="http://schemas.openxmlformats.org/officeDocument/2006/relationships/hyperlink" Target="https://doi.org/10.5824/ajite.2020.03.007.x"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avesis.gelisim.edu.tr/yayin/675c8fe7-5b37-43d7-8424-261df0e6fb53/dijitallesme-ve-sosyal-medyanin-toplum-uzerindeki-etkileri" TargetMode="External"/><Relationship Id="rId2" Type="http://schemas.openxmlformats.org/officeDocument/2006/relationships/hyperlink" Target="https://data.tuik.gov.tr/Bulten/Index?p=Cocuklarda-Bilisim-Teknolojileri-Kullanim-Arastirmasi-2024-53638&amp;utm_source=chatgpt.com" TargetMode="External"/><Relationship Id="rId1" Type="http://schemas.openxmlformats.org/officeDocument/2006/relationships/slideLayout" Target="../slideLayouts/slideLayout2.xml"/><Relationship Id="rId4" Type="http://schemas.openxmlformats.org/officeDocument/2006/relationships/hyperlink" Target="https://dergipark.org.tr/en/pub/ajit-e/issue/57481/744555"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EC7823C-FDD6-429C-986C-063FDEBF9E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9CF7FE1C-8BC5-4B0C-A2BC-93AB72C90F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68100" y="-1"/>
            <a:ext cx="10423900"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bg2">
              <a:alpha val="50000"/>
            </a:schemeClr>
          </a:solidFill>
          <a:ln w="32707"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0651F5E-0457-4065-ACB2-8B81590C20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050098" flipH="1" flipV="1">
            <a:off x="-160709" y="3977842"/>
            <a:ext cx="7507400" cy="3166385"/>
          </a:xfrm>
          <a:custGeom>
            <a:avLst/>
            <a:gdLst>
              <a:gd name="connsiteX0" fmla="*/ 5497485 w 7507400"/>
              <a:gd name="connsiteY0" fmla="*/ 2912009 h 3166385"/>
              <a:gd name="connsiteX1" fmla="*/ 7034681 w 7507400"/>
              <a:gd name="connsiteY1" fmla="*/ 3151263 h 3166385"/>
              <a:gd name="connsiteX2" fmla="*/ 7137723 w 7507400"/>
              <a:gd name="connsiteY2" fmla="*/ 3166385 h 3166385"/>
              <a:gd name="connsiteX3" fmla="*/ 7507400 w 7507400"/>
              <a:gd name="connsiteY3" fmla="*/ 875071 h 3166385"/>
              <a:gd name="connsiteX4" fmla="*/ 2083578 w 7507400"/>
              <a:gd name="connsiteY4" fmla="*/ 0 h 3166385"/>
              <a:gd name="connsiteX5" fmla="*/ 2023081 w 7507400"/>
              <a:gd name="connsiteY5" fmla="*/ 5468 h 3166385"/>
              <a:gd name="connsiteX6" fmla="*/ 1865374 w 7507400"/>
              <a:gd name="connsiteY6" fmla="*/ 76313 h 3166385"/>
              <a:gd name="connsiteX7" fmla="*/ 1634010 w 7507400"/>
              <a:gd name="connsiteY7" fmla="*/ 119359 h 3166385"/>
              <a:gd name="connsiteX8" fmla="*/ 1388186 w 7507400"/>
              <a:gd name="connsiteY8" fmla="*/ 130121 h 3166385"/>
              <a:gd name="connsiteX9" fmla="*/ 1330344 w 7507400"/>
              <a:gd name="connsiteY9" fmla="*/ 198275 h 3166385"/>
              <a:gd name="connsiteX10" fmla="*/ 1406262 w 7507400"/>
              <a:gd name="connsiteY10" fmla="*/ 270018 h 3166385"/>
              <a:gd name="connsiteX11" fmla="*/ 1521942 w 7507400"/>
              <a:gd name="connsiteY11" fmla="*/ 277191 h 3166385"/>
              <a:gd name="connsiteX12" fmla="*/ 2212420 w 7507400"/>
              <a:gd name="connsiteY12" fmla="*/ 295128 h 3166385"/>
              <a:gd name="connsiteX13" fmla="*/ 0 w 7507400"/>
              <a:gd name="connsiteY13" fmla="*/ 452960 h 3166385"/>
              <a:gd name="connsiteX14" fmla="*/ 300051 w 7507400"/>
              <a:gd name="connsiteY14" fmla="*/ 549813 h 3166385"/>
              <a:gd name="connsiteX15" fmla="*/ 401272 w 7507400"/>
              <a:gd name="connsiteY15" fmla="*/ 815258 h 3166385"/>
              <a:gd name="connsiteX16" fmla="*/ 770008 w 7507400"/>
              <a:gd name="connsiteY16" fmla="*/ 965917 h 3166385"/>
              <a:gd name="connsiteX17" fmla="*/ 1008605 w 7507400"/>
              <a:gd name="connsiteY17" fmla="*/ 1019724 h 3166385"/>
              <a:gd name="connsiteX18" fmla="*/ 1554478 w 7507400"/>
              <a:gd name="connsiteY18" fmla="*/ 1098641 h 3166385"/>
              <a:gd name="connsiteX19" fmla="*/ 1634010 w 7507400"/>
              <a:gd name="connsiteY19" fmla="*/ 1227777 h 3166385"/>
              <a:gd name="connsiteX20" fmla="*/ 1702696 w 7507400"/>
              <a:gd name="connsiteY20" fmla="*/ 1371261 h 3166385"/>
              <a:gd name="connsiteX21" fmla="*/ 1847299 w 7507400"/>
              <a:gd name="connsiteY21" fmla="*/ 1464526 h 3166385"/>
              <a:gd name="connsiteX22" fmla="*/ 723015 w 7507400"/>
              <a:gd name="connsiteY22" fmla="*/ 1450177 h 3166385"/>
              <a:gd name="connsiteX23" fmla="*/ 1991901 w 7507400"/>
              <a:gd name="connsiteY23" fmla="*/ 1751495 h 3166385"/>
              <a:gd name="connsiteX24" fmla="*/ 1879835 w 7507400"/>
              <a:gd name="connsiteY24" fmla="*/ 1869870 h 3166385"/>
              <a:gd name="connsiteX25" fmla="*/ 2573927 w 7507400"/>
              <a:gd name="connsiteY25" fmla="*/ 2031290 h 3166385"/>
              <a:gd name="connsiteX26" fmla="*/ 2201575 w 7507400"/>
              <a:gd name="connsiteY26" fmla="*/ 2049225 h 3166385"/>
              <a:gd name="connsiteX27" fmla="*/ 4367000 w 7507400"/>
              <a:gd name="connsiteY27" fmla="*/ 2723602 h 3166385"/>
              <a:gd name="connsiteX28" fmla="*/ 5497485 w 7507400"/>
              <a:gd name="connsiteY28" fmla="*/ 2912009 h 3166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507400" h="3166385">
                <a:moveTo>
                  <a:pt x="5497485" y="2912009"/>
                </a:moveTo>
                <a:cubicBezTo>
                  <a:pt x="6033497" y="2998226"/>
                  <a:pt x="6619155" y="3089592"/>
                  <a:pt x="7034681" y="3151263"/>
                </a:cubicBezTo>
                <a:lnTo>
                  <a:pt x="7137723" y="3166385"/>
                </a:lnTo>
                <a:lnTo>
                  <a:pt x="7507400" y="875071"/>
                </a:lnTo>
                <a:lnTo>
                  <a:pt x="2083578" y="0"/>
                </a:lnTo>
                <a:lnTo>
                  <a:pt x="2023081" y="5468"/>
                </a:lnTo>
                <a:cubicBezTo>
                  <a:pt x="1965692" y="12642"/>
                  <a:pt x="1910562" y="27887"/>
                  <a:pt x="1865374" y="76313"/>
                </a:cubicBezTo>
                <a:cubicBezTo>
                  <a:pt x="1796688" y="151642"/>
                  <a:pt x="1724387" y="162404"/>
                  <a:pt x="1634010" y="119359"/>
                </a:cubicBezTo>
                <a:cubicBezTo>
                  <a:pt x="1554478" y="79900"/>
                  <a:pt x="1467718" y="90662"/>
                  <a:pt x="1388186" y="130121"/>
                </a:cubicBezTo>
                <a:cubicBezTo>
                  <a:pt x="1359266" y="144469"/>
                  <a:pt x="1330344" y="162404"/>
                  <a:pt x="1330344" y="198275"/>
                </a:cubicBezTo>
                <a:cubicBezTo>
                  <a:pt x="1330344" y="248495"/>
                  <a:pt x="1366496" y="262843"/>
                  <a:pt x="1406262" y="270018"/>
                </a:cubicBezTo>
                <a:cubicBezTo>
                  <a:pt x="1442412" y="277191"/>
                  <a:pt x="1485792" y="284366"/>
                  <a:pt x="1521942" y="277191"/>
                </a:cubicBezTo>
                <a:cubicBezTo>
                  <a:pt x="1753307" y="237734"/>
                  <a:pt x="1981057" y="302301"/>
                  <a:pt x="2212420" y="295128"/>
                </a:cubicBezTo>
                <a:cubicBezTo>
                  <a:pt x="1485792" y="449373"/>
                  <a:pt x="751934" y="399154"/>
                  <a:pt x="0" y="452960"/>
                </a:cubicBezTo>
                <a:cubicBezTo>
                  <a:pt x="97608" y="560573"/>
                  <a:pt x="224135" y="470896"/>
                  <a:pt x="300051" y="549813"/>
                </a:cubicBezTo>
                <a:cubicBezTo>
                  <a:pt x="227750" y="714820"/>
                  <a:pt x="256671" y="804497"/>
                  <a:pt x="401272" y="815258"/>
                </a:cubicBezTo>
                <a:cubicBezTo>
                  <a:pt x="542261" y="826019"/>
                  <a:pt x="694093" y="768625"/>
                  <a:pt x="770008" y="965917"/>
                </a:cubicBezTo>
                <a:cubicBezTo>
                  <a:pt x="791699" y="1026898"/>
                  <a:pt x="925458" y="1008963"/>
                  <a:pt x="1008605" y="1019724"/>
                </a:cubicBezTo>
                <a:cubicBezTo>
                  <a:pt x="1189357" y="1044833"/>
                  <a:pt x="1380957" y="1019724"/>
                  <a:pt x="1554478" y="1098641"/>
                </a:cubicBezTo>
                <a:cubicBezTo>
                  <a:pt x="1623165" y="1127337"/>
                  <a:pt x="1670160" y="1148860"/>
                  <a:pt x="1634010" y="1227777"/>
                </a:cubicBezTo>
                <a:cubicBezTo>
                  <a:pt x="1597859" y="1310280"/>
                  <a:pt x="1644855" y="1338976"/>
                  <a:pt x="1702696" y="1371261"/>
                </a:cubicBezTo>
                <a:cubicBezTo>
                  <a:pt x="1746077" y="1396370"/>
                  <a:pt x="1811148" y="1389197"/>
                  <a:pt x="1847299" y="1464526"/>
                </a:cubicBezTo>
                <a:cubicBezTo>
                  <a:pt x="1467717" y="1453764"/>
                  <a:pt x="1098981" y="1392783"/>
                  <a:pt x="723015" y="1450177"/>
                </a:cubicBezTo>
                <a:cubicBezTo>
                  <a:pt x="1135131" y="1593662"/>
                  <a:pt x="1587014" y="1586487"/>
                  <a:pt x="1991901" y="1751495"/>
                </a:cubicBezTo>
                <a:cubicBezTo>
                  <a:pt x="1977441" y="1808889"/>
                  <a:pt x="1883449" y="1783778"/>
                  <a:pt x="1879835" y="1869870"/>
                </a:cubicBezTo>
                <a:cubicBezTo>
                  <a:pt x="2093123" y="1959548"/>
                  <a:pt x="2349794" y="1898566"/>
                  <a:pt x="2573927" y="2031290"/>
                </a:cubicBezTo>
                <a:cubicBezTo>
                  <a:pt x="2443785" y="2092271"/>
                  <a:pt x="2324488" y="1991831"/>
                  <a:pt x="2201575" y="2049225"/>
                </a:cubicBezTo>
                <a:cubicBezTo>
                  <a:pt x="2241342" y="2135316"/>
                  <a:pt x="4041644" y="2666208"/>
                  <a:pt x="4367000" y="2723602"/>
                </a:cubicBezTo>
                <a:cubicBezTo>
                  <a:pt x="4615085" y="2767993"/>
                  <a:pt x="5038048" y="2838109"/>
                  <a:pt x="5497485" y="2912009"/>
                </a:cubicBezTo>
                <a:close/>
              </a:path>
            </a:pathLst>
          </a:custGeom>
          <a:solidFill>
            <a:schemeClr val="bg2">
              <a:alpha val="50000"/>
            </a:schemeClr>
          </a:solidFill>
          <a:ln w="32707" cap="flat">
            <a:noFill/>
            <a:prstDash val="solid"/>
            <a:miter/>
          </a:ln>
        </p:spPr>
        <p:txBody>
          <a:bodyPr rtlCol="0" anchor="ctr"/>
          <a:lstStyle/>
          <a:p>
            <a:endParaRPr lang="en-US"/>
          </a:p>
        </p:txBody>
      </p:sp>
      <p:sp>
        <p:nvSpPr>
          <p:cNvPr id="2" name="Başlık 1"/>
          <p:cNvSpPr>
            <a:spLocks noGrp="1"/>
          </p:cNvSpPr>
          <p:nvPr>
            <p:ph type="ctrTitle"/>
          </p:nvPr>
        </p:nvSpPr>
        <p:spPr>
          <a:xfrm>
            <a:off x="5751094" y="1058780"/>
            <a:ext cx="5602705" cy="3092116"/>
          </a:xfrm>
        </p:spPr>
        <p:txBody>
          <a:bodyPr anchor="ctr">
            <a:normAutofit/>
          </a:bodyPr>
          <a:lstStyle/>
          <a:p>
            <a:pPr algn="l"/>
            <a:r>
              <a:rPr lang="tr-TR" sz="5200" dirty="0"/>
              <a:t>Araştırma Yöntem ve Teknikleri</a:t>
            </a:r>
          </a:p>
        </p:txBody>
      </p:sp>
      <p:sp>
        <p:nvSpPr>
          <p:cNvPr id="3" name="Alt Başlık 2"/>
          <p:cNvSpPr>
            <a:spLocks noGrp="1"/>
          </p:cNvSpPr>
          <p:nvPr>
            <p:ph type="subTitle" idx="1"/>
          </p:nvPr>
        </p:nvSpPr>
        <p:spPr>
          <a:xfrm>
            <a:off x="378125" y="4567163"/>
            <a:ext cx="4242001" cy="2181000"/>
          </a:xfrm>
        </p:spPr>
        <p:txBody>
          <a:bodyPr anchor="ctr">
            <a:normAutofit lnSpcReduction="10000"/>
          </a:bodyPr>
          <a:lstStyle/>
          <a:p>
            <a:pPr algn="l"/>
            <a:r>
              <a:rPr lang="tr-TR" dirty="0"/>
              <a:t>Hazırlayanlar:</a:t>
            </a:r>
          </a:p>
          <a:p>
            <a:pPr algn="l"/>
            <a:r>
              <a:rPr lang="tr-TR" dirty="0" err="1"/>
              <a:t>Ronya</a:t>
            </a:r>
            <a:r>
              <a:rPr lang="tr-TR" dirty="0"/>
              <a:t> </a:t>
            </a:r>
            <a:r>
              <a:rPr lang="tr-TR" dirty="0" err="1"/>
              <a:t>Hsso</a:t>
            </a:r>
          </a:p>
          <a:p>
            <a:pPr algn="l"/>
            <a:r>
              <a:rPr lang="tr-TR" dirty="0"/>
              <a:t>Merve Şen</a:t>
            </a:r>
          </a:p>
          <a:p>
            <a:pPr algn="l"/>
            <a:r>
              <a:rPr lang="tr-TR" dirty="0"/>
              <a:t>Nisanur Ay</a:t>
            </a:r>
          </a:p>
          <a:p>
            <a:pPr algn="l"/>
            <a:r>
              <a:rPr lang="tr-TR" dirty="0"/>
              <a:t>Pelin Ay</a:t>
            </a:r>
          </a:p>
        </p:txBody>
      </p:sp>
    </p:spTree>
    <p:extLst>
      <p:ext uri="{BB962C8B-B14F-4D97-AF65-F5344CB8AC3E}">
        <p14:creationId xmlns:p14="http://schemas.microsoft.com/office/powerpoint/2010/main" val="16744258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644579E-EF30-E2E6-A050-ACB31ECF0797}"/>
              </a:ext>
            </a:extLst>
          </p:cNvPr>
          <p:cNvSpPr>
            <a:spLocks noGrp="1"/>
          </p:cNvSpPr>
          <p:nvPr>
            <p:ph type="title"/>
          </p:nvPr>
        </p:nvSpPr>
        <p:spPr/>
        <p:txBody>
          <a:bodyPr/>
          <a:lstStyle/>
          <a:p>
            <a:r>
              <a:rPr lang="tr-TR" dirty="0">
                <a:solidFill>
                  <a:srgbClr val="FF0000"/>
                </a:solidFill>
              </a:rPr>
              <a:t>DİJİTALLEŞME</a:t>
            </a:r>
          </a:p>
        </p:txBody>
      </p:sp>
      <p:sp>
        <p:nvSpPr>
          <p:cNvPr id="3" name="İçerik Yer Tutucusu 2">
            <a:extLst>
              <a:ext uri="{FF2B5EF4-FFF2-40B4-BE49-F238E27FC236}">
                <a16:creationId xmlns:a16="http://schemas.microsoft.com/office/drawing/2014/main" id="{508A4DF5-07CD-389F-6891-0869C61DBCE1}"/>
              </a:ext>
            </a:extLst>
          </p:cNvPr>
          <p:cNvSpPr>
            <a:spLocks noGrp="1"/>
          </p:cNvSpPr>
          <p:nvPr>
            <p:ph idx="1"/>
          </p:nvPr>
        </p:nvSpPr>
        <p:spPr/>
        <p:txBody>
          <a:bodyPr vert="horz" lIns="91440" tIns="45720" rIns="91440" bIns="45720" rtlCol="0" anchor="t">
            <a:normAutofit/>
          </a:bodyPr>
          <a:lstStyle/>
          <a:p>
            <a:pPr marL="0" indent="0">
              <a:buNone/>
            </a:pPr>
            <a:r>
              <a:rPr lang="tr-TR" b="1" dirty="0">
                <a:ea typeface="+mn-lt"/>
                <a:cs typeface="+mn-lt"/>
              </a:rPr>
              <a:t>Dijitalleşme Nedir ?</a:t>
            </a:r>
          </a:p>
          <a:p>
            <a:pPr marL="0" indent="0">
              <a:buNone/>
            </a:pPr>
            <a:endParaRPr lang="tr-TR" dirty="0">
              <a:latin typeface="Aptos Narrow"/>
              <a:ea typeface="+mn-lt"/>
              <a:cs typeface="+mn-lt"/>
            </a:endParaRPr>
          </a:p>
          <a:p>
            <a:pPr marL="0" indent="0">
              <a:buNone/>
            </a:pPr>
            <a:r>
              <a:rPr lang="tr-TR" dirty="0">
                <a:latin typeface="Aptos Narrow"/>
                <a:ea typeface="+mn-lt"/>
                <a:cs typeface="+mn-lt"/>
              </a:rPr>
              <a:t>D</a:t>
            </a:r>
            <a:r>
              <a:rPr lang="tr-TR" dirty="0">
                <a:latin typeface="Calibri"/>
                <a:ea typeface="+mn-lt"/>
                <a:cs typeface="+mn-lt"/>
              </a:rPr>
              <a:t>ijitalleşme, teknolojik gelişmelerin işletme ve toplum hayatına hızla entegre edilmesi sürecidir.</a:t>
            </a:r>
          </a:p>
          <a:p>
            <a:pPr marL="0" indent="0">
              <a:buNone/>
            </a:pPr>
            <a:endParaRPr lang="tr-TR" b="1" dirty="0">
              <a:latin typeface="Calibri"/>
              <a:ea typeface="Calibri"/>
              <a:cs typeface="Calibri"/>
            </a:endParaRPr>
          </a:p>
          <a:p>
            <a:pPr marL="0" indent="0">
              <a:buNone/>
            </a:pPr>
            <a:r>
              <a:rPr lang="tr-TR" b="1" dirty="0">
                <a:latin typeface="Calibri"/>
                <a:ea typeface="Calibri"/>
                <a:cs typeface="Calibri"/>
              </a:rPr>
              <a:t>Seçme Amacımız:</a:t>
            </a:r>
          </a:p>
          <a:p>
            <a:pPr marL="0" indent="0">
              <a:buNone/>
            </a:pPr>
            <a:r>
              <a:rPr lang="tr-TR" dirty="0">
                <a:latin typeface="Calibri"/>
                <a:ea typeface="Calibri"/>
                <a:cs typeface="Calibri"/>
              </a:rPr>
              <a:t>Güncel bir konu olduğu için ve bilinçlenmek amacıyla seçtik.</a:t>
            </a:r>
          </a:p>
          <a:p>
            <a:pPr marL="0" indent="0">
              <a:buNone/>
            </a:pPr>
            <a:endParaRPr lang="tr-TR" b="1" dirty="0">
              <a:latin typeface="Calibri"/>
              <a:ea typeface="Calibri"/>
              <a:cs typeface="Calibri"/>
            </a:endParaRPr>
          </a:p>
        </p:txBody>
      </p:sp>
    </p:spTree>
    <p:extLst>
      <p:ext uri="{BB962C8B-B14F-4D97-AF65-F5344CB8AC3E}">
        <p14:creationId xmlns:p14="http://schemas.microsoft.com/office/powerpoint/2010/main" val="32233084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C95C637-498C-1AD2-973C-FF39D534C767}"/>
              </a:ext>
            </a:extLst>
          </p:cNvPr>
          <p:cNvSpPr>
            <a:spLocks noGrp="1"/>
          </p:cNvSpPr>
          <p:nvPr>
            <p:ph type="title"/>
          </p:nvPr>
        </p:nvSpPr>
        <p:spPr/>
        <p:txBody>
          <a:bodyPr/>
          <a:lstStyle/>
          <a:p>
            <a:r>
              <a:rPr lang="tr-TR" dirty="0">
                <a:solidFill>
                  <a:srgbClr val="FF0000"/>
                </a:solidFill>
              </a:rPr>
              <a:t>Dijitalleşmenin Önemi</a:t>
            </a:r>
          </a:p>
        </p:txBody>
      </p:sp>
      <p:sp>
        <p:nvSpPr>
          <p:cNvPr id="3" name="İçerik Yer Tutucusu 2">
            <a:extLst>
              <a:ext uri="{FF2B5EF4-FFF2-40B4-BE49-F238E27FC236}">
                <a16:creationId xmlns:a16="http://schemas.microsoft.com/office/drawing/2014/main" id="{7621F054-BC8A-2E6A-5520-6B6969FEDD82}"/>
              </a:ext>
            </a:extLst>
          </p:cNvPr>
          <p:cNvSpPr>
            <a:spLocks noGrp="1"/>
          </p:cNvSpPr>
          <p:nvPr>
            <p:ph idx="1"/>
          </p:nvPr>
        </p:nvSpPr>
        <p:spPr/>
        <p:txBody>
          <a:bodyPr vert="horz" lIns="91440" tIns="45720" rIns="91440" bIns="45720" rtlCol="0" anchor="t">
            <a:normAutofit/>
          </a:bodyPr>
          <a:lstStyle/>
          <a:p>
            <a:pPr>
              <a:buFont typeface="Wingdings" panose="020B0604020202020204" pitchFamily="34" charset="0"/>
              <a:buChar char="v"/>
            </a:pPr>
            <a:r>
              <a:rPr lang="tr-TR" dirty="0">
                <a:latin typeface="Calibri"/>
                <a:ea typeface="Calibri"/>
                <a:cs typeface="Calibri"/>
              </a:rPr>
              <a:t>Verimlilik</a:t>
            </a:r>
          </a:p>
          <a:p>
            <a:pPr>
              <a:buFont typeface="Wingdings" panose="020B0604020202020204" pitchFamily="34" charset="0"/>
              <a:buChar char="v"/>
            </a:pPr>
            <a:endParaRPr lang="tr-TR" dirty="0">
              <a:latin typeface="Calibri"/>
              <a:ea typeface="Calibri"/>
              <a:cs typeface="Calibri"/>
            </a:endParaRPr>
          </a:p>
          <a:p>
            <a:pPr>
              <a:buFont typeface="Wingdings" panose="020B0604020202020204" pitchFamily="34" charset="0"/>
              <a:buChar char="v"/>
            </a:pPr>
            <a:r>
              <a:rPr lang="tr-TR" dirty="0">
                <a:latin typeface="Calibri"/>
                <a:ea typeface="Calibri"/>
                <a:cs typeface="Calibri"/>
              </a:rPr>
              <a:t>Erişebilirlik </a:t>
            </a:r>
          </a:p>
          <a:p>
            <a:pPr>
              <a:buFont typeface="Wingdings" panose="020B0604020202020204" pitchFamily="34" charset="0"/>
              <a:buChar char="v"/>
            </a:pPr>
            <a:endParaRPr lang="tr-TR" dirty="0">
              <a:latin typeface="Calibri"/>
              <a:ea typeface="Calibri"/>
              <a:cs typeface="Calibri"/>
            </a:endParaRPr>
          </a:p>
          <a:p>
            <a:pPr>
              <a:buFont typeface="Wingdings" panose="020B0604020202020204" pitchFamily="34" charset="0"/>
              <a:buChar char="v"/>
            </a:pPr>
            <a:r>
              <a:rPr lang="tr-TR" dirty="0">
                <a:latin typeface="Calibri"/>
                <a:ea typeface="Calibri"/>
                <a:cs typeface="Calibri"/>
              </a:rPr>
              <a:t>Sürdürülebilirlik</a:t>
            </a:r>
          </a:p>
          <a:p>
            <a:pPr>
              <a:buFont typeface="Wingdings" panose="020B0604020202020204" pitchFamily="34" charset="0"/>
              <a:buChar char="v"/>
            </a:pPr>
            <a:endParaRPr lang="tr-TR" dirty="0">
              <a:latin typeface="Calibri"/>
              <a:ea typeface="Calibri"/>
              <a:cs typeface="Calibri"/>
            </a:endParaRPr>
          </a:p>
          <a:p>
            <a:pPr>
              <a:buFont typeface="Wingdings" panose="020B0604020202020204" pitchFamily="34" charset="0"/>
              <a:buChar char="v"/>
            </a:pPr>
            <a:r>
              <a:rPr lang="tr-TR" dirty="0">
                <a:latin typeface="Calibri"/>
                <a:ea typeface="Calibri"/>
                <a:cs typeface="Calibri"/>
              </a:rPr>
              <a:t>Küreselleşme</a:t>
            </a:r>
          </a:p>
        </p:txBody>
      </p:sp>
    </p:spTree>
    <p:extLst>
      <p:ext uri="{BB962C8B-B14F-4D97-AF65-F5344CB8AC3E}">
        <p14:creationId xmlns:p14="http://schemas.microsoft.com/office/powerpoint/2010/main" val="8742664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4FFF1D3-A851-9D28-E07E-5902B56073D8}"/>
              </a:ext>
            </a:extLst>
          </p:cNvPr>
          <p:cNvSpPr>
            <a:spLocks noGrp="1"/>
          </p:cNvSpPr>
          <p:nvPr>
            <p:ph type="title"/>
          </p:nvPr>
        </p:nvSpPr>
        <p:spPr>
          <a:xfrm>
            <a:off x="838200" y="365125"/>
            <a:ext cx="10515600" cy="2403864"/>
          </a:xfrm>
        </p:spPr>
        <p:txBody>
          <a:bodyPr>
            <a:normAutofit/>
          </a:bodyPr>
          <a:lstStyle/>
          <a:p>
            <a:r>
              <a:rPr lang="tr-TR" dirty="0">
                <a:solidFill>
                  <a:srgbClr val="0B58A2"/>
                </a:solidFill>
                <a:latin typeface="Poppins"/>
                <a:cs typeface="Poppins"/>
                <a:hlinkClick r:id="rId2"/>
              </a:rPr>
              <a:t>Betül Ersöz </a:t>
            </a:r>
            <a:r>
              <a:rPr lang="tr-TR" dirty="0">
                <a:solidFill>
                  <a:srgbClr val="3D4465"/>
                </a:solidFill>
                <a:latin typeface="Poppins"/>
                <a:cs typeface="Poppins"/>
              </a:rPr>
              <a:t> , </a:t>
            </a:r>
            <a:r>
              <a:rPr lang="tr-TR" dirty="0">
                <a:solidFill>
                  <a:srgbClr val="0B58A2"/>
                </a:solidFill>
                <a:latin typeface="Poppins"/>
                <a:cs typeface="Poppins"/>
                <a:hlinkClick r:id="rId3"/>
              </a:rPr>
              <a:t>Mehmet Özmen</a:t>
            </a:r>
            <a:endParaRPr lang="tr-TR"/>
          </a:p>
          <a:p>
            <a:r>
              <a:rPr lang="tr-TR" sz="1100" dirty="0">
                <a:solidFill>
                  <a:srgbClr val="0B58A2"/>
                </a:solidFill>
                <a:latin typeface="Poppins"/>
                <a:cs typeface="Poppins"/>
                <a:hlinkClick r:id="rId4"/>
              </a:rPr>
              <a:t>https://doi.org/10.5824/ajite.2020.03.007.x</a:t>
            </a:r>
            <a:endParaRPr lang="tr-TR"/>
          </a:p>
          <a:p>
            <a:endParaRPr lang="tr-TR" dirty="0"/>
          </a:p>
          <a:p>
            <a:endParaRPr lang="tr-TR" sz="2400" dirty="0"/>
          </a:p>
        </p:txBody>
      </p:sp>
      <p:sp>
        <p:nvSpPr>
          <p:cNvPr id="3" name="İçerik Yer Tutucusu 2">
            <a:extLst>
              <a:ext uri="{FF2B5EF4-FFF2-40B4-BE49-F238E27FC236}">
                <a16:creationId xmlns:a16="http://schemas.microsoft.com/office/drawing/2014/main" id="{AE63F1ED-A91B-E6AD-AB0B-AD49E425D52A}"/>
              </a:ext>
            </a:extLst>
          </p:cNvPr>
          <p:cNvSpPr>
            <a:spLocks noGrp="1"/>
          </p:cNvSpPr>
          <p:nvPr>
            <p:ph idx="1"/>
          </p:nvPr>
        </p:nvSpPr>
        <p:spPr/>
        <p:txBody>
          <a:bodyPr vert="horz" lIns="91440" tIns="45720" rIns="91440" bIns="45720" rtlCol="0" anchor="t">
            <a:noAutofit/>
          </a:bodyPr>
          <a:lstStyle/>
          <a:p>
            <a:pPr marL="0" indent="0">
              <a:buNone/>
            </a:pPr>
            <a:r>
              <a:rPr lang="tr-TR" sz="2400" dirty="0">
                <a:solidFill>
                  <a:srgbClr val="111111"/>
                </a:solidFill>
                <a:latin typeface="Calibri"/>
                <a:ea typeface="Calibri"/>
                <a:cs typeface="Poppins"/>
              </a:rPr>
              <a:t>20 yıl öncesine kadar teknolojinin insanlara sunduğu fırsatlar oldukça sınırlıydı. Günden güne evrensel ilerleme aracı olarak kullanılan bilişim teknolojileri bu fırsatları artırarak, küreselleşen dünyanın vazgeçemediği bir unsur haline gelmiştir. Günümüzde dijitalleşmenin artması ile birlikte teknolojinin hızına yetişmek oldukça zordur. Dijital çağ olarak adlandıran teknoloji yüzyılı, bireylerin hayatlarını kolaylaştırırken yenilikler sunarak teknolojiye bağımlı bireyler haline dönüştürmüştür. Bilişim teknolojinin gelişmesi ile örgütler teknolojinin sunduğu araçları kullanarak çağın sunduğu olanakları fırsata dönüştürerek hem ulusal hem de uluslararası bir ilerlemenin parçası olmuştur. Örgütler 21.yüzyıl ile hızlı bir dönüşüme girerek teknolojinin sunduğu araçları bünyelerine entegre etmişlerdir. Dolayısıyla, Dijitalleşme ve Bilişim teknolojilerinin çalışanlar üzerinde olumlu ve olumsuz etkilerinin olduğu görülmektedir. Çalışmanın amacı, dijitalleşme sürecinde meydana gelen dönüşümün çalışanların üzerinde bıraktığı etkiyi yapılan çalışmalar ışığında inceleyerek, </a:t>
            </a:r>
            <a:r>
              <a:rPr lang="tr-TR" sz="2400" err="1">
                <a:solidFill>
                  <a:srgbClr val="111111"/>
                </a:solidFill>
                <a:latin typeface="Calibri"/>
                <a:ea typeface="Calibri"/>
                <a:cs typeface="Poppins"/>
              </a:rPr>
              <a:t>alanyazına</a:t>
            </a:r>
            <a:r>
              <a:rPr lang="tr-TR" sz="2400" dirty="0">
                <a:solidFill>
                  <a:srgbClr val="111111"/>
                </a:solidFill>
                <a:latin typeface="Calibri"/>
                <a:ea typeface="Calibri"/>
                <a:cs typeface="Poppins"/>
              </a:rPr>
              <a:t> katkı sağlamaktır.</a:t>
            </a:r>
            <a:endParaRPr lang="tr-TR" sz="2400">
              <a:latin typeface="Calibri"/>
              <a:ea typeface="Calibri"/>
              <a:cs typeface="Calibri"/>
            </a:endParaRPr>
          </a:p>
        </p:txBody>
      </p:sp>
    </p:spTree>
    <p:extLst>
      <p:ext uri="{BB962C8B-B14F-4D97-AF65-F5344CB8AC3E}">
        <p14:creationId xmlns:p14="http://schemas.microsoft.com/office/powerpoint/2010/main" val="35382706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F4A0E59-4F1A-AD20-32CF-C978E48E625E}"/>
              </a:ext>
            </a:extLst>
          </p:cNvPr>
          <p:cNvSpPr>
            <a:spLocks noGrp="1"/>
          </p:cNvSpPr>
          <p:nvPr>
            <p:ph type="title"/>
          </p:nvPr>
        </p:nvSpPr>
        <p:spPr>
          <a:xfrm>
            <a:off x="838200" y="365125"/>
            <a:ext cx="10515600" cy="1339940"/>
          </a:xfrm>
        </p:spPr>
        <p:txBody>
          <a:bodyPr/>
          <a:lstStyle/>
          <a:p>
            <a:r>
              <a:rPr lang="tr-TR" dirty="0">
                <a:solidFill>
                  <a:srgbClr val="FF0000"/>
                </a:solidFill>
              </a:rPr>
              <a:t>Veri Toplarken Kullandığımız Yöntemler</a:t>
            </a:r>
          </a:p>
        </p:txBody>
      </p:sp>
      <p:sp>
        <p:nvSpPr>
          <p:cNvPr id="3" name="İçerik Yer Tutucusu 2">
            <a:extLst>
              <a:ext uri="{FF2B5EF4-FFF2-40B4-BE49-F238E27FC236}">
                <a16:creationId xmlns:a16="http://schemas.microsoft.com/office/drawing/2014/main" id="{009C7D9A-C27B-793A-2E58-812EB0072B0E}"/>
              </a:ext>
            </a:extLst>
          </p:cNvPr>
          <p:cNvSpPr>
            <a:spLocks noGrp="1"/>
          </p:cNvSpPr>
          <p:nvPr>
            <p:ph idx="1"/>
          </p:nvPr>
        </p:nvSpPr>
        <p:spPr/>
        <p:txBody>
          <a:bodyPr vert="horz" lIns="91440" tIns="45720" rIns="91440" bIns="45720" rtlCol="0" anchor="t">
            <a:normAutofit/>
          </a:bodyPr>
          <a:lstStyle/>
          <a:p>
            <a:pPr marL="457200" indent="-457200">
              <a:buFont typeface="Wingdings" panose="020B0604020202020204" pitchFamily="34" charset="0"/>
              <a:buChar char="Ø"/>
            </a:pPr>
            <a:r>
              <a:rPr lang="tr-TR" dirty="0"/>
              <a:t>Açık Veri Setleri</a:t>
            </a:r>
          </a:p>
          <a:p>
            <a:pPr marL="0" indent="0">
              <a:buNone/>
            </a:pPr>
            <a:endParaRPr lang="tr-TR" dirty="0"/>
          </a:p>
          <a:p>
            <a:pPr marL="0" indent="0">
              <a:buFont typeface="Wingdings" panose="020B0604020202020204" pitchFamily="34" charset="0"/>
              <a:buNone/>
            </a:pPr>
            <a:endParaRPr lang="tr-TR" dirty="0"/>
          </a:p>
          <a:p>
            <a:pPr marL="457200" indent="-457200">
              <a:buFont typeface="Wingdings" panose="020B0604020202020204" pitchFamily="34" charset="0"/>
              <a:buChar char="Ø"/>
            </a:pPr>
            <a:r>
              <a:rPr lang="tr-TR" dirty="0"/>
              <a:t> Web </a:t>
            </a:r>
            <a:r>
              <a:rPr lang="tr-TR" dirty="0" err="1"/>
              <a:t>Scraping</a:t>
            </a:r>
            <a:r>
              <a:rPr lang="tr-TR" dirty="0"/>
              <a:t> (Web'den veri çekme)</a:t>
            </a:r>
          </a:p>
        </p:txBody>
      </p:sp>
    </p:spTree>
    <p:extLst>
      <p:ext uri="{BB962C8B-B14F-4D97-AF65-F5344CB8AC3E}">
        <p14:creationId xmlns:p14="http://schemas.microsoft.com/office/powerpoint/2010/main" val="6090636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F6BF1A6-9B1F-9099-79D9-045956BC2384}"/>
              </a:ext>
            </a:extLst>
          </p:cNvPr>
          <p:cNvSpPr>
            <a:spLocks noGrp="1"/>
          </p:cNvSpPr>
          <p:nvPr>
            <p:ph type="title"/>
          </p:nvPr>
        </p:nvSpPr>
        <p:spPr>
          <a:xfrm>
            <a:off x="838200" y="365125"/>
            <a:ext cx="10515600" cy="1339940"/>
          </a:xfrm>
        </p:spPr>
        <p:txBody>
          <a:bodyPr/>
          <a:lstStyle/>
          <a:p>
            <a:r>
              <a:rPr lang="tr-TR" dirty="0">
                <a:solidFill>
                  <a:srgbClr val="FF0000"/>
                </a:solidFill>
              </a:rPr>
              <a:t>Bulduğumuz Verilerdeki İşlenen İki konu:</a:t>
            </a:r>
          </a:p>
        </p:txBody>
      </p:sp>
      <p:sp>
        <p:nvSpPr>
          <p:cNvPr id="3" name="İçerik Yer Tutucusu 2">
            <a:extLst>
              <a:ext uri="{FF2B5EF4-FFF2-40B4-BE49-F238E27FC236}">
                <a16:creationId xmlns:a16="http://schemas.microsoft.com/office/drawing/2014/main" id="{843303C7-F99F-1C5D-E634-052740692F93}"/>
              </a:ext>
            </a:extLst>
          </p:cNvPr>
          <p:cNvSpPr>
            <a:spLocks noGrp="1"/>
          </p:cNvSpPr>
          <p:nvPr>
            <p:ph idx="1"/>
          </p:nvPr>
        </p:nvSpPr>
        <p:spPr/>
        <p:txBody>
          <a:bodyPr vert="horz" lIns="91440" tIns="45720" rIns="91440" bIns="45720" rtlCol="0" anchor="t">
            <a:normAutofit/>
          </a:bodyPr>
          <a:lstStyle/>
          <a:p>
            <a:pPr marL="0" indent="0">
              <a:buNone/>
            </a:pPr>
            <a:endParaRPr lang="tr-TR"/>
          </a:p>
          <a:p>
            <a:pPr marL="514350" indent="-514350">
              <a:buAutoNum type="arabicPeriod"/>
            </a:pPr>
            <a:r>
              <a:rPr lang="tr-TR" dirty="0"/>
              <a:t>Çocukların Bilişim Teknolojisi Kullanım Araştırması</a:t>
            </a:r>
          </a:p>
          <a:p>
            <a:pPr marL="514350" indent="-514350">
              <a:buAutoNum type="arabicPeriod"/>
            </a:pPr>
            <a:endParaRPr lang="tr-TR" dirty="0"/>
          </a:p>
          <a:p>
            <a:pPr marL="514350" indent="-514350">
              <a:buAutoNum type="arabicPeriod"/>
            </a:pPr>
            <a:endParaRPr lang="tr-TR" dirty="0"/>
          </a:p>
          <a:p>
            <a:pPr marL="514350" indent="-514350">
              <a:buAutoNum type="arabicPeriod"/>
            </a:pPr>
            <a:r>
              <a:rPr lang="tr-TR" dirty="0"/>
              <a:t>Dijitalleşme ve Sosyal Medyanın Toplum Üzerindeki Etkisi</a:t>
            </a:r>
          </a:p>
        </p:txBody>
      </p:sp>
    </p:spTree>
    <p:extLst>
      <p:ext uri="{BB962C8B-B14F-4D97-AF65-F5344CB8AC3E}">
        <p14:creationId xmlns:p14="http://schemas.microsoft.com/office/powerpoint/2010/main" val="42839718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54FDB78-73C8-8787-5718-8A94359910D6}"/>
              </a:ext>
            </a:extLst>
          </p:cNvPr>
          <p:cNvSpPr>
            <a:spLocks noGrp="1"/>
          </p:cNvSpPr>
          <p:nvPr>
            <p:ph type="title"/>
          </p:nvPr>
        </p:nvSpPr>
        <p:spPr/>
        <p:txBody>
          <a:bodyPr>
            <a:normAutofit/>
          </a:bodyPr>
          <a:lstStyle/>
          <a:p>
            <a:r>
              <a:rPr lang="tr-TR" sz="2800" dirty="0">
                <a:solidFill>
                  <a:srgbClr val="FF0000"/>
                </a:solidFill>
                <a:latin typeface="Calibri"/>
                <a:ea typeface="Batang"/>
                <a:cs typeface="Calibri"/>
              </a:rPr>
              <a:t>TÜİK Çocuklarda Bilişim Teknolojileri Kullanım Araştırması , 2024</a:t>
            </a:r>
          </a:p>
        </p:txBody>
      </p:sp>
      <p:sp>
        <p:nvSpPr>
          <p:cNvPr id="3" name="İçerik Yer Tutucusu 2">
            <a:extLst>
              <a:ext uri="{FF2B5EF4-FFF2-40B4-BE49-F238E27FC236}">
                <a16:creationId xmlns:a16="http://schemas.microsoft.com/office/drawing/2014/main" id="{2620FB5F-FD0F-2B33-1EF9-0D9A682516C5}"/>
              </a:ext>
            </a:extLst>
          </p:cNvPr>
          <p:cNvSpPr>
            <a:spLocks noGrp="1"/>
          </p:cNvSpPr>
          <p:nvPr>
            <p:ph idx="1"/>
          </p:nvPr>
        </p:nvSpPr>
        <p:spPr>
          <a:xfrm>
            <a:off x="838200" y="1466191"/>
            <a:ext cx="10515600" cy="4710772"/>
          </a:xfrm>
        </p:spPr>
        <p:txBody>
          <a:bodyPr vert="horz" lIns="91440" tIns="45720" rIns="91440" bIns="45720" rtlCol="0" anchor="t">
            <a:normAutofit/>
          </a:bodyPr>
          <a:lstStyle/>
          <a:p>
            <a:pPr marL="0" indent="0">
              <a:buNone/>
            </a:pPr>
            <a:r>
              <a:rPr lang="tr-TR" sz="2000" b="1" dirty="0">
                <a:latin typeface="Calibri"/>
                <a:ea typeface="Calibri"/>
                <a:cs typeface="Arial"/>
              </a:rPr>
              <a:t>Çocukların İnternet kullanım oranı %91,3 oldu</a:t>
            </a:r>
            <a:br>
              <a:rPr lang="tr-TR" sz="2000" b="1" dirty="0">
                <a:latin typeface="Calibri"/>
                <a:ea typeface="Calibri"/>
                <a:cs typeface="Arial"/>
              </a:rPr>
            </a:br>
            <a:br>
              <a:rPr lang="tr-TR" sz="2000" b="1" dirty="0">
                <a:latin typeface="Calibri"/>
                <a:ea typeface="Calibri"/>
                <a:cs typeface="Arial"/>
              </a:rPr>
            </a:br>
            <a:r>
              <a:rPr lang="tr-TR" sz="2000" i="1" dirty="0">
                <a:latin typeface="Calibri"/>
                <a:ea typeface="Calibri"/>
                <a:cs typeface="Arial"/>
              </a:rPr>
              <a:t>Çocuklarda İnternet kullanımı, 2021 yılında %82,7 iken 2024 yılında %91,3 oldu. İnternet kullanımı cinsiyete göre incelendiğinde; erkek çocukların %92,2'sinin kız çocukların ise %90,3'ünün İnternet kullandığı görüldü. Bu oranlar 2021 yılında sırasıyla %83,9 ve %81,5'ti.</a:t>
            </a:r>
            <a:br>
              <a:rPr lang="tr-TR" sz="2000" i="1" dirty="0">
                <a:latin typeface="Calibri"/>
                <a:ea typeface="Calibri"/>
                <a:cs typeface="Arial"/>
              </a:rPr>
            </a:br>
            <a:br>
              <a:rPr lang="tr-TR" sz="2000" i="1" dirty="0">
                <a:latin typeface="Calibri"/>
                <a:ea typeface="Calibri"/>
                <a:cs typeface="Arial"/>
              </a:rPr>
            </a:br>
            <a:r>
              <a:rPr lang="tr-TR" sz="2000" i="1" dirty="0">
                <a:latin typeface="Calibri"/>
                <a:ea typeface="Calibri"/>
                <a:cs typeface="Arial"/>
              </a:rPr>
              <a:t>İnternet kullanan çocukların %97,4'ü düzenli İnternet kullandığını beyan etti. Bu oran, 2021 yılında %98,6 idi. Düzenli İnternet kullanan çocukların %42,9'unun hafta içi, %53,6'sının ise hafta sonu günde yaklaşık iki saat ve daha fazla süre İnternette vakit geçirdiği gözlendi. Günde yaklaşık iki saat ve daha fazla süre İnternet kullanımı yaş gruplarına göre incelendiğinde; bu oran hafta içi 6-10 yaş grubu için %30,6, 11-15 yaş grubu için %54,4 oldu. Hafta sonu ise sırasıyla %43,2 ve %63,5 oldu.</a:t>
            </a:r>
            <a:endParaRPr lang="tr-TR" sz="2000" i="1">
              <a:latin typeface="Calibri"/>
              <a:ea typeface="Calibri"/>
              <a:cs typeface="Calibri"/>
            </a:endParaRPr>
          </a:p>
        </p:txBody>
      </p:sp>
    </p:spTree>
    <p:extLst>
      <p:ext uri="{BB962C8B-B14F-4D97-AF65-F5344CB8AC3E}">
        <p14:creationId xmlns:p14="http://schemas.microsoft.com/office/powerpoint/2010/main" val="14797670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495A4A6-E012-5038-D5D4-74779C98F060}"/>
              </a:ext>
            </a:extLst>
          </p:cNvPr>
          <p:cNvSpPr>
            <a:spLocks noGrp="1"/>
          </p:cNvSpPr>
          <p:nvPr>
            <p:ph type="title"/>
          </p:nvPr>
        </p:nvSpPr>
        <p:spPr>
          <a:xfrm>
            <a:off x="838200" y="365125"/>
            <a:ext cx="10515600" cy="908620"/>
          </a:xfrm>
        </p:spPr>
        <p:txBody>
          <a:bodyPr>
            <a:normAutofit/>
          </a:bodyPr>
          <a:lstStyle/>
          <a:p>
            <a:r>
              <a:rPr lang="tr-TR" sz="2800" dirty="0">
                <a:solidFill>
                  <a:srgbClr val="FF0000"/>
                </a:solidFill>
                <a:latin typeface="Calibri"/>
                <a:ea typeface="Calibri"/>
                <a:cs typeface="Calibri"/>
              </a:rPr>
              <a:t>TÜİK Çocuklarda Bilişim Teknolojileri Kullanım Araştırması , 2024</a:t>
            </a:r>
            <a:endParaRPr lang="tr-TR" dirty="0"/>
          </a:p>
        </p:txBody>
      </p:sp>
      <p:sp>
        <p:nvSpPr>
          <p:cNvPr id="3" name="İçerik Yer Tutucusu 2">
            <a:extLst>
              <a:ext uri="{FF2B5EF4-FFF2-40B4-BE49-F238E27FC236}">
                <a16:creationId xmlns:a16="http://schemas.microsoft.com/office/drawing/2014/main" id="{D6EDC5D5-E3D1-C975-B40B-FAA79CB61144}"/>
              </a:ext>
            </a:extLst>
          </p:cNvPr>
          <p:cNvSpPr>
            <a:spLocks noGrp="1"/>
          </p:cNvSpPr>
          <p:nvPr>
            <p:ph idx="1"/>
          </p:nvPr>
        </p:nvSpPr>
        <p:spPr>
          <a:xfrm>
            <a:off x="320616" y="1279286"/>
            <a:ext cx="11622655" cy="5702808"/>
          </a:xfrm>
        </p:spPr>
        <p:txBody>
          <a:bodyPr vert="horz" lIns="91440" tIns="45720" rIns="91440" bIns="45720" rtlCol="0" anchor="t">
            <a:normAutofit/>
          </a:bodyPr>
          <a:lstStyle/>
          <a:p>
            <a:pPr marL="0" indent="0">
              <a:buNone/>
            </a:pPr>
            <a:r>
              <a:rPr lang="tr-TR" sz="2000" b="1" dirty="0">
                <a:latin typeface="Calibri"/>
                <a:ea typeface="Calibri"/>
                <a:cs typeface="Arial"/>
              </a:rPr>
              <a:t>Çocuklar İnterneti en fazla video izleme amacı ile kullandı</a:t>
            </a:r>
            <a:br>
              <a:rPr lang="tr-TR" sz="2000" b="1" dirty="0">
                <a:latin typeface="Calibri"/>
                <a:cs typeface="Arial"/>
              </a:rPr>
            </a:br>
            <a:br>
              <a:rPr lang="tr-TR" sz="2000" b="1" dirty="0">
                <a:latin typeface="Calibri"/>
                <a:cs typeface="Arial"/>
              </a:rPr>
            </a:br>
            <a:r>
              <a:rPr lang="tr-TR" sz="2000" dirty="0">
                <a:latin typeface="Calibri"/>
                <a:ea typeface="Calibri"/>
                <a:cs typeface="Arial"/>
              </a:rPr>
              <a:t>Düzenli İnternet kullanan çocukların İnternet kullanım amaçları incelendiğinde; en fazla yürüttükleri faaliyetler sırasıyla %83,9 ile video izleme, %75,0 ile ödev, öğrenme veya çevrimiçi derslere katılma ve %72,7 ile oyun oynama veya oyun indirme oldu. Çocukların İnternette en az yürüttüğü faaliyet ise %13,2 ile e-posta gönderme veya alma oldu.</a:t>
            </a:r>
          </a:p>
          <a:p>
            <a:pPr marL="0" indent="0">
              <a:buNone/>
            </a:pPr>
            <a:r>
              <a:rPr lang="tr-TR" sz="2000" b="1" dirty="0">
                <a:solidFill>
                  <a:srgbClr val="FF0000"/>
                </a:solidFill>
                <a:latin typeface="Calibri"/>
                <a:ea typeface="Calibri"/>
                <a:cs typeface="Arial"/>
              </a:rPr>
              <a:t>Düzenli internet kullanan çocukların internet kullanım amaçları,2024</a:t>
            </a:r>
          </a:p>
        </p:txBody>
      </p:sp>
      <p:pic>
        <p:nvPicPr>
          <p:cNvPr id="4" name="Resim 3" descr="metin, ekran görüntüsü, yazı tipi, sayı, numara içeren bir resim&#10;&#10;Yapay zeka tarafından oluşturulmuş içerik yanlış olabilir.">
            <a:extLst>
              <a:ext uri="{FF2B5EF4-FFF2-40B4-BE49-F238E27FC236}">
                <a16:creationId xmlns:a16="http://schemas.microsoft.com/office/drawing/2014/main" id="{C6A1CFCD-B3BE-DC17-5BB4-0402760780F8}"/>
              </a:ext>
            </a:extLst>
          </p:cNvPr>
          <p:cNvPicPr>
            <a:picLocks noChangeAspect="1"/>
          </p:cNvPicPr>
          <p:nvPr/>
        </p:nvPicPr>
        <p:blipFill>
          <a:blip r:embed="rId2"/>
          <a:stretch>
            <a:fillRect/>
          </a:stretch>
        </p:blipFill>
        <p:spPr>
          <a:xfrm>
            <a:off x="1249843" y="3422530"/>
            <a:ext cx="9074089" cy="3434750"/>
          </a:xfrm>
          <a:prstGeom prst="rect">
            <a:avLst/>
          </a:prstGeom>
        </p:spPr>
      </p:pic>
    </p:spTree>
    <p:extLst>
      <p:ext uri="{BB962C8B-B14F-4D97-AF65-F5344CB8AC3E}">
        <p14:creationId xmlns:p14="http://schemas.microsoft.com/office/powerpoint/2010/main" val="31720778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B5A8DB0-A0BB-085C-066A-17C9E2C14C80}"/>
              </a:ext>
            </a:extLst>
          </p:cNvPr>
          <p:cNvSpPr>
            <a:spLocks noGrp="1"/>
          </p:cNvSpPr>
          <p:nvPr>
            <p:ph type="title"/>
          </p:nvPr>
        </p:nvSpPr>
        <p:spPr>
          <a:xfrm>
            <a:off x="838200" y="365125"/>
            <a:ext cx="10515600" cy="793601"/>
          </a:xfrm>
        </p:spPr>
        <p:txBody>
          <a:bodyPr>
            <a:normAutofit/>
          </a:bodyPr>
          <a:lstStyle/>
          <a:p>
            <a:r>
              <a:rPr lang="tr-TR" sz="2800" dirty="0">
                <a:solidFill>
                  <a:srgbClr val="FF0000"/>
                </a:solidFill>
                <a:latin typeface="Calibri"/>
                <a:ea typeface="Calibri"/>
                <a:cs typeface="Calibri"/>
              </a:rPr>
              <a:t>TÜİK Çocuklarda Bilişim Teknolojileri Kullanım Araştırması , 2024</a:t>
            </a:r>
            <a:endParaRPr lang="tr-TR" sz="2800" dirty="0">
              <a:latin typeface="Calibri"/>
              <a:ea typeface="Calibri"/>
              <a:cs typeface="Calibri"/>
            </a:endParaRPr>
          </a:p>
        </p:txBody>
      </p:sp>
      <p:sp>
        <p:nvSpPr>
          <p:cNvPr id="3" name="İçerik Yer Tutucusu 2">
            <a:extLst>
              <a:ext uri="{FF2B5EF4-FFF2-40B4-BE49-F238E27FC236}">
                <a16:creationId xmlns:a16="http://schemas.microsoft.com/office/drawing/2014/main" id="{291A06DB-7E85-A6F0-9931-066EDD58D1BB}"/>
              </a:ext>
            </a:extLst>
          </p:cNvPr>
          <p:cNvSpPr>
            <a:spLocks noGrp="1"/>
          </p:cNvSpPr>
          <p:nvPr>
            <p:ph idx="1"/>
          </p:nvPr>
        </p:nvSpPr>
        <p:spPr>
          <a:xfrm>
            <a:off x="334994" y="1020493"/>
            <a:ext cx="11507636" cy="5832205"/>
          </a:xfrm>
        </p:spPr>
        <p:txBody>
          <a:bodyPr vert="horz" lIns="91440" tIns="45720" rIns="91440" bIns="45720" rtlCol="0" anchor="t">
            <a:normAutofit/>
          </a:bodyPr>
          <a:lstStyle/>
          <a:p>
            <a:pPr marL="0" indent="0">
              <a:buNone/>
            </a:pPr>
            <a:r>
              <a:rPr lang="tr-TR" sz="2000" b="1" dirty="0">
                <a:latin typeface="Calibri"/>
                <a:ea typeface="Calibri"/>
                <a:cs typeface="Arial"/>
              </a:rPr>
              <a:t>Cep telefonu/akıllı telefon en fazla İnternette gezinme amacı ile kullanıldı</a:t>
            </a:r>
            <a:br>
              <a:rPr lang="tr-TR" sz="2000" b="1" dirty="0">
                <a:latin typeface="Calibri"/>
                <a:cs typeface="Arial"/>
              </a:rPr>
            </a:br>
            <a:br>
              <a:rPr lang="tr-TR" sz="1200" b="1" dirty="0">
                <a:latin typeface="Arial"/>
                <a:cs typeface="Arial"/>
              </a:rPr>
            </a:br>
            <a:r>
              <a:rPr lang="tr-TR" sz="2000" dirty="0">
                <a:latin typeface="Calibri"/>
                <a:ea typeface="Calibri"/>
                <a:cs typeface="Arial"/>
              </a:rPr>
              <a:t>Düzenli cep telefonu/akıllı telefon kullandığını beyan eden çocukların oranı %98,2 oldu. Bu çocukların cep telefonu/akıllı telefonu kullanım amaçları incelendiğinde; en fazla %77,9 ile İnternette gezinme, %77,3 ile görüntülü veya görüntüsüz konuşma, %75,0 ile film, dizi, TV yayınları veya video izleme ve %73,6 ile sosyal medya kullanımı olduğu tespit edildi.</a:t>
            </a:r>
          </a:p>
          <a:p>
            <a:pPr marL="0" indent="0">
              <a:buNone/>
            </a:pPr>
            <a:r>
              <a:rPr lang="tr-TR" sz="2000" b="1" dirty="0">
                <a:solidFill>
                  <a:srgbClr val="FF0000"/>
                </a:solidFill>
                <a:latin typeface="Calibri"/>
                <a:ea typeface="Calibri"/>
                <a:cs typeface="Arial"/>
              </a:rPr>
              <a:t>Düzenli cep telefonu kullanan çocukların yaş gruplarına göre kullanım amaçları (%) ,2024</a:t>
            </a:r>
          </a:p>
        </p:txBody>
      </p:sp>
      <p:pic>
        <p:nvPicPr>
          <p:cNvPr id="4" name="Resim 3" descr="metin, ekran görüntüsü, paralel, diyagram içeren bir resim&#10;&#10;Yapay zeka tarafından oluşturulmuş içerik yanlış olabilir.">
            <a:extLst>
              <a:ext uri="{FF2B5EF4-FFF2-40B4-BE49-F238E27FC236}">
                <a16:creationId xmlns:a16="http://schemas.microsoft.com/office/drawing/2014/main" id="{B9A29814-6A71-60DA-58D4-04C29BB40D76}"/>
              </a:ext>
            </a:extLst>
          </p:cNvPr>
          <p:cNvPicPr>
            <a:picLocks noChangeAspect="1"/>
          </p:cNvPicPr>
          <p:nvPr/>
        </p:nvPicPr>
        <p:blipFill>
          <a:blip r:embed="rId2"/>
          <a:stretch>
            <a:fillRect/>
          </a:stretch>
        </p:blipFill>
        <p:spPr>
          <a:xfrm>
            <a:off x="199667" y="3151788"/>
            <a:ext cx="11533875" cy="3703067"/>
          </a:xfrm>
          <a:prstGeom prst="rect">
            <a:avLst/>
          </a:prstGeom>
        </p:spPr>
      </p:pic>
    </p:spTree>
    <p:extLst>
      <p:ext uri="{BB962C8B-B14F-4D97-AF65-F5344CB8AC3E}">
        <p14:creationId xmlns:p14="http://schemas.microsoft.com/office/powerpoint/2010/main" val="1348226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D41805E-EDB7-1766-9CA1-0E29FBDAE9C5}"/>
              </a:ext>
            </a:extLst>
          </p:cNvPr>
          <p:cNvSpPr>
            <a:spLocks noGrp="1"/>
          </p:cNvSpPr>
          <p:nvPr>
            <p:ph type="title"/>
          </p:nvPr>
        </p:nvSpPr>
        <p:spPr>
          <a:xfrm>
            <a:off x="248729" y="451390"/>
            <a:ext cx="11593901" cy="807977"/>
          </a:xfrm>
        </p:spPr>
        <p:txBody>
          <a:bodyPr>
            <a:noAutofit/>
          </a:bodyPr>
          <a:lstStyle/>
          <a:p>
            <a:r>
              <a:rPr lang="tr-TR" sz="3200" dirty="0">
                <a:solidFill>
                  <a:schemeClr val="tx1">
                    <a:lumMod val="76000"/>
                    <a:lumOff val="24000"/>
                  </a:schemeClr>
                </a:solidFill>
                <a:latin typeface="Calibri"/>
                <a:ea typeface="Open Sans"/>
                <a:cs typeface="Open Sans"/>
              </a:rPr>
              <a:t>SOSYAL PSIKOLOJI ALANINDA ULUSLARARASI ARAŞTIRMALAR I, CEMİLE ŞEKER,ASLI KAYA,DAMLA KARADAYI, Editör, EĞİTİM YAYINEVİ, Ankara, ss.65-79, 2024</a:t>
            </a:r>
            <a:endParaRPr lang="tr-TR" sz="3200">
              <a:solidFill>
                <a:schemeClr val="tx1">
                  <a:lumMod val="76000"/>
                  <a:lumOff val="24000"/>
                </a:schemeClr>
              </a:solidFill>
              <a:latin typeface="Calibri"/>
              <a:ea typeface="Calibri"/>
              <a:cs typeface="Calibri"/>
            </a:endParaRPr>
          </a:p>
        </p:txBody>
      </p:sp>
      <p:sp>
        <p:nvSpPr>
          <p:cNvPr id="3" name="İçerik Yer Tutucusu 2">
            <a:extLst>
              <a:ext uri="{FF2B5EF4-FFF2-40B4-BE49-F238E27FC236}">
                <a16:creationId xmlns:a16="http://schemas.microsoft.com/office/drawing/2014/main" id="{DDD14BD3-E7E2-0EAA-B6C2-A2FF7DD1CA7F}"/>
              </a:ext>
            </a:extLst>
          </p:cNvPr>
          <p:cNvSpPr>
            <a:spLocks noGrp="1"/>
          </p:cNvSpPr>
          <p:nvPr>
            <p:ph idx="1"/>
          </p:nvPr>
        </p:nvSpPr>
        <p:spPr>
          <a:xfrm>
            <a:off x="248729" y="1825625"/>
            <a:ext cx="11737674" cy="5027073"/>
          </a:xfrm>
        </p:spPr>
        <p:txBody>
          <a:bodyPr vert="horz" lIns="91440" tIns="45720" rIns="91440" bIns="45720" rtlCol="0" anchor="t">
            <a:normAutofit/>
          </a:bodyPr>
          <a:lstStyle/>
          <a:p>
            <a:pPr marL="0" indent="0">
              <a:buNone/>
            </a:pPr>
            <a:r>
              <a:rPr lang="tr-TR" sz="2000" dirty="0">
                <a:solidFill>
                  <a:schemeClr val="tx1">
                    <a:lumMod val="76000"/>
                    <a:lumOff val="24000"/>
                  </a:schemeClr>
                </a:solidFill>
                <a:latin typeface="Calibri"/>
                <a:ea typeface="Open Sans"/>
                <a:cs typeface="Open Sans"/>
              </a:rPr>
              <a:t>Modern toplumların şekillenmesinde, dijitalleşme ve sosyal medyanın, kritik bir rol oynadığı söylenebilir. Günümüz dünyasında, teknolojik yenilikler ve dijital platformların popülaritesi hızla artmaya devam etmektedir. Bu artış, hayatımızın her alanında sosyal etkileşim biçimlerinde köklü değişikliklere neden olmaktadır. Bireysel yaşam tarzlarından toplumsal dinamiklere kadar pek çok alanda etki üreten sosyal medya, her geçen gün kullanıcı sayısını ve popülaritesini arttırma eğilimi göstermektedir. Bilgiye erişimi kolaylaştırması, sosyal etkileşimi arttırma, küresel bağlantıyı artma gibi olumlu etkileri bulunan dijitalleşme ve sosyal medyanın birçok olumsuz etkisi de mevcuttur. Bu olumsuz etkilere; bilgi kirliliği, mahremiyet endişeleri ve dijital bağımlılık gibi örnekler verilebilir. Ayrıca dijitalleşme ile hayatımıza giren sosyal medya, insanların kendilerini ve sosyal ilişkilerini ifade etme biçimlerini yeniden şekillendirerek iş dünyasının verimliliğini artırmıştır. Ek olarak iş yapış şekillerini değiştirmiş ve yeni ekonomik modellerin ortaya çıkmasına zemin hazırlamıştır. İletişimi kolaylaştıran dijitalleşme ve sosyal medya bilgi akışının hızlanmasına, cinsiyet rollerinin değişmesine ve dijital vatandaşlık kavramının ortaya çıkmasına da olanak sağlamıştır </a:t>
            </a:r>
            <a:endParaRPr lang="tr-TR" sz="2000" dirty="0">
              <a:solidFill>
                <a:schemeClr val="tx1">
                  <a:lumMod val="76000"/>
                  <a:lumOff val="24000"/>
                </a:schemeClr>
              </a:solidFill>
              <a:latin typeface="Calibri"/>
              <a:ea typeface="Calibri"/>
              <a:cs typeface="Calibri"/>
            </a:endParaRPr>
          </a:p>
        </p:txBody>
      </p:sp>
    </p:spTree>
    <p:extLst>
      <p:ext uri="{BB962C8B-B14F-4D97-AF65-F5344CB8AC3E}">
        <p14:creationId xmlns:p14="http://schemas.microsoft.com/office/powerpoint/2010/main" val="1327622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3C50082-9E3E-8298-A8AA-FD151D33EC02}"/>
              </a:ext>
            </a:extLst>
          </p:cNvPr>
          <p:cNvSpPr>
            <a:spLocks noGrp="1"/>
          </p:cNvSpPr>
          <p:nvPr>
            <p:ph type="title"/>
          </p:nvPr>
        </p:nvSpPr>
        <p:spPr>
          <a:xfrm>
            <a:off x="4314" y="5692"/>
            <a:ext cx="12183372" cy="851109"/>
          </a:xfrm>
        </p:spPr>
        <p:txBody>
          <a:bodyPr>
            <a:normAutofit/>
          </a:bodyPr>
          <a:lstStyle/>
          <a:p>
            <a:r>
              <a:rPr lang="tr-TR" sz="2800" dirty="0">
                <a:solidFill>
                  <a:srgbClr val="FF0000"/>
                </a:solidFill>
                <a:latin typeface="Calibri"/>
                <a:ea typeface="Calibri"/>
                <a:cs typeface="Calibri"/>
              </a:rPr>
              <a:t>Makaleden Çıkarmış Olduğumuz Veriler :</a:t>
            </a:r>
          </a:p>
        </p:txBody>
      </p:sp>
      <p:sp>
        <p:nvSpPr>
          <p:cNvPr id="3" name="İçerik Yer Tutucusu 2">
            <a:extLst>
              <a:ext uri="{FF2B5EF4-FFF2-40B4-BE49-F238E27FC236}">
                <a16:creationId xmlns:a16="http://schemas.microsoft.com/office/drawing/2014/main" id="{FE83F515-3649-7B7C-D38A-3B509EF74D39}"/>
              </a:ext>
            </a:extLst>
          </p:cNvPr>
          <p:cNvSpPr>
            <a:spLocks noGrp="1"/>
          </p:cNvSpPr>
          <p:nvPr>
            <p:ph idx="1"/>
          </p:nvPr>
        </p:nvSpPr>
        <p:spPr>
          <a:xfrm>
            <a:off x="4314" y="1092380"/>
            <a:ext cx="12183372" cy="5760318"/>
          </a:xfrm>
        </p:spPr>
        <p:txBody>
          <a:bodyPr vert="horz" lIns="91440" tIns="45720" rIns="91440" bIns="45720" rtlCol="0" anchor="t">
            <a:normAutofit/>
          </a:bodyPr>
          <a:lstStyle/>
          <a:p>
            <a:pPr marL="514350" indent="-514350">
              <a:buFont typeface="Wingdings" panose="020B0604020202020204" pitchFamily="34" charset="0"/>
              <a:buChar char="Ø"/>
            </a:pPr>
            <a:r>
              <a:rPr lang="tr-TR" sz="2400" dirty="0">
                <a:latin typeface="Calibri"/>
                <a:ea typeface="Calibri"/>
                <a:cs typeface="Calibri"/>
              </a:rPr>
              <a:t>Toplumun şekillenmesinde dijitalleşme ve sosyal medyanın önemli bir rolünün olduğu;</a:t>
            </a:r>
          </a:p>
          <a:p>
            <a:pPr marL="514350" indent="-514350">
              <a:buFont typeface="Wingdings" panose="020B0604020202020204" pitchFamily="34" charset="0"/>
              <a:buChar char="Ø"/>
            </a:pPr>
            <a:endParaRPr lang="tr-TR" sz="2400" dirty="0">
              <a:latin typeface="Calibri"/>
              <a:ea typeface="Calibri"/>
              <a:cs typeface="Calibri"/>
            </a:endParaRPr>
          </a:p>
          <a:p>
            <a:pPr marL="514350" indent="-514350">
              <a:buFont typeface="Wingdings" panose="020B0604020202020204" pitchFamily="34" charset="0"/>
              <a:buChar char="Ø"/>
            </a:pPr>
            <a:r>
              <a:rPr lang="tr-TR" sz="2400" dirty="0">
                <a:latin typeface="Calibri"/>
                <a:ea typeface="Calibri"/>
                <a:cs typeface="Calibri"/>
              </a:rPr>
              <a:t>Sosyal </a:t>
            </a:r>
            <a:r>
              <a:rPr lang="tr-TR" sz="2400" dirty="0" err="1">
                <a:latin typeface="Calibri"/>
                <a:ea typeface="Calibri"/>
                <a:cs typeface="Calibri"/>
              </a:rPr>
              <a:t>etlileşim</a:t>
            </a:r>
            <a:r>
              <a:rPr lang="tr-TR" sz="2400" dirty="0">
                <a:latin typeface="Calibri"/>
                <a:ea typeface="Calibri"/>
                <a:cs typeface="Calibri"/>
              </a:rPr>
              <a:t> biçimlerinde köklü değişimlere neden olduğu;</a:t>
            </a:r>
            <a:br>
              <a:rPr lang="tr-TR" sz="2400" dirty="0">
                <a:latin typeface="Calibri"/>
                <a:ea typeface="Calibri"/>
                <a:cs typeface="Calibri"/>
              </a:rPr>
            </a:br>
            <a:endParaRPr lang="tr-TR" sz="2400" dirty="0">
              <a:latin typeface="Calibri"/>
              <a:ea typeface="Calibri"/>
              <a:cs typeface="Calibri"/>
            </a:endParaRPr>
          </a:p>
          <a:p>
            <a:pPr marL="514350" indent="-514350">
              <a:buFont typeface="Wingdings" panose="020B0604020202020204" pitchFamily="34" charset="0"/>
              <a:buChar char="Ø"/>
            </a:pPr>
            <a:endParaRPr lang="tr-TR" sz="2400" dirty="0">
              <a:latin typeface="Calibri"/>
              <a:ea typeface="Calibri"/>
              <a:cs typeface="Calibri"/>
            </a:endParaRPr>
          </a:p>
          <a:p>
            <a:pPr marL="514350" indent="-514350">
              <a:buFont typeface="Wingdings" panose="020B0604020202020204" pitchFamily="34" charset="0"/>
              <a:buChar char="Ø"/>
            </a:pPr>
            <a:r>
              <a:rPr lang="tr-TR" sz="2400" dirty="0">
                <a:latin typeface="Calibri"/>
                <a:ea typeface="Calibri"/>
                <a:cs typeface="Calibri"/>
              </a:rPr>
              <a:t>Bilgiye erişimi kolaylaştırma , sosyal erişimi artırma gibi olumlu etkilere sahip olduğu;</a:t>
            </a:r>
          </a:p>
          <a:p>
            <a:pPr marL="514350" indent="-514350">
              <a:buFont typeface="Wingdings" panose="020B0604020202020204" pitchFamily="34" charset="0"/>
              <a:buChar char="Ø"/>
            </a:pPr>
            <a:endParaRPr lang="tr-TR" sz="2400" dirty="0">
              <a:latin typeface="Calibri"/>
              <a:ea typeface="Calibri"/>
              <a:cs typeface="Calibri"/>
            </a:endParaRPr>
          </a:p>
          <a:p>
            <a:pPr marL="514350" indent="-514350">
              <a:buFont typeface="Wingdings" panose="020B0604020202020204" pitchFamily="34" charset="0"/>
              <a:buChar char="Ø"/>
            </a:pPr>
            <a:endParaRPr lang="tr-TR" sz="2400" dirty="0">
              <a:latin typeface="Calibri"/>
              <a:ea typeface="Calibri"/>
              <a:cs typeface="Calibri"/>
            </a:endParaRPr>
          </a:p>
          <a:p>
            <a:pPr marL="514350" indent="-514350">
              <a:buFont typeface="Wingdings" panose="020B0604020202020204" pitchFamily="34" charset="0"/>
              <a:buChar char="Ø"/>
            </a:pPr>
            <a:r>
              <a:rPr lang="tr-TR" sz="2400" dirty="0">
                <a:latin typeface="Calibri"/>
                <a:ea typeface="Calibri"/>
                <a:cs typeface="Calibri"/>
              </a:rPr>
              <a:t>Bilgi kirliliği , mahremiyet endişeleri ve dijital bağımlılık gibi olumsuz etkilere sahip olduğu</a:t>
            </a:r>
          </a:p>
          <a:p>
            <a:pPr marL="514350" indent="-514350">
              <a:buFont typeface="Wingdings" panose="020B0604020202020204" pitchFamily="34" charset="0"/>
              <a:buChar char="Ø"/>
            </a:pPr>
            <a:endParaRPr lang="tr-TR" sz="2400" dirty="0">
              <a:latin typeface="Calibri"/>
              <a:ea typeface="Calibri"/>
              <a:cs typeface="Calibri"/>
            </a:endParaRPr>
          </a:p>
        </p:txBody>
      </p:sp>
    </p:spTree>
    <p:extLst>
      <p:ext uri="{BB962C8B-B14F-4D97-AF65-F5344CB8AC3E}">
        <p14:creationId xmlns:p14="http://schemas.microsoft.com/office/powerpoint/2010/main" val="29518241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591318C-D8BB-C00F-915F-1D530CA8F7B9}"/>
              </a:ext>
            </a:extLst>
          </p:cNvPr>
          <p:cNvSpPr>
            <a:spLocks noGrp="1"/>
          </p:cNvSpPr>
          <p:nvPr>
            <p:ph type="title"/>
          </p:nvPr>
        </p:nvSpPr>
        <p:spPr>
          <a:xfrm>
            <a:off x="838200" y="365125"/>
            <a:ext cx="10515600" cy="865488"/>
          </a:xfrm>
        </p:spPr>
        <p:txBody>
          <a:bodyPr/>
          <a:lstStyle/>
          <a:p>
            <a:r>
              <a:rPr lang="tr-TR" dirty="0"/>
              <a:t>Kaynakça</a:t>
            </a:r>
          </a:p>
        </p:txBody>
      </p:sp>
      <p:sp>
        <p:nvSpPr>
          <p:cNvPr id="3" name="İçerik Yer Tutucusu 2">
            <a:extLst>
              <a:ext uri="{FF2B5EF4-FFF2-40B4-BE49-F238E27FC236}">
                <a16:creationId xmlns:a16="http://schemas.microsoft.com/office/drawing/2014/main" id="{BA5A3850-3E50-9008-19F3-E86D525566CE}"/>
              </a:ext>
            </a:extLst>
          </p:cNvPr>
          <p:cNvSpPr>
            <a:spLocks noGrp="1"/>
          </p:cNvSpPr>
          <p:nvPr>
            <p:ph idx="1"/>
          </p:nvPr>
        </p:nvSpPr>
        <p:spPr>
          <a:xfrm>
            <a:off x="4314" y="1236154"/>
            <a:ext cx="12183372" cy="5616544"/>
          </a:xfrm>
        </p:spPr>
        <p:txBody>
          <a:bodyPr vert="horz" lIns="91440" tIns="45720" rIns="91440" bIns="45720" rtlCol="0" anchor="t">
            <a:normAutofit/>
          </a:bodyPr>
          <a:lstStyle/>
          <a:p>
            <a:pPr marL="0" indent="0">
              <a:buNone/>
            </a:pPr>
            <a:r>
              <a:rPr lang="tr-TR" dirty="0">
                <a:latin typeface="Calibri"/>
                <a:ea typeface="+mn-lt"/>
                <a:cs typeface="+mn-lt"/>
                <a:hlinkClick r:id="rId2"/>
              </a:rPr>
              <a:t>https://data.tuik.gov.tr/Bulten/Index?p=Cocuklarda-Bilisim-Teknolojileri-Kullanim-Arastirmasi-2024-53638&amp;utm_source=chatgpt.com</a:t>
            </a:r>
            <a:endParaRPr lang="tr-TR">
              <a:latin typeface="Calibri"/>
              <a:ea typeface="Calibri"/>
              <a:cs typeface="Calibri"/>
            </a:endParaRPr>
          </a:p>
          <a:p>
            <a:pPr marL="0" indent="0">
              <a:buNone/>
            </a:pPr>
            <a:endParaRPr lang="tr-TR" dirty="0">
              <a:latin typeface="Aptos"/>
              <a:ea typeface="Calibri"/>
              <a:cs typeface="Calibri"/>
            </a:endParaRPr>
          </a:p>
          <a:p>
            <a:pPr marL="0" indent="0">
              <a:buNone/>
            </a:pPr>
            <a:r>
              <a:rPr lang="tr-TR" dirty="0">
                <a:ea typeface="+mn-lt"/>
                <a:cs typeface="+mn-lt"/>
                <a:hlinkClick r:id="rId3"/>
              </a:rPr>
              <a:t>https://avesis.gelisim.edu.tr/yayin/675c8fe7-5b37-43d7-8424-261df0e6fb53/dijitallesme-ve-sosyal-medyanin-toplum-uzerindeki-etkileri</a:t>
            </a:r>
            <a:endParaRPr lang="tr-TR">
              <a:ea typeface="+mn-lt"/>
              <a:cs typeface="+mn-lt"/>
            </a:endParaRPr>
          </a:p>
          <a:p>
            <a:pPr marL="0" indent="0">
              <a:buNone/>
            </a:pPr>
            <a:endParaRPr lang="tr-TR" dirty="0"/>
          </a:p>
          <a:p>
            <a:pPr marL="0" indent="0">
              <a:buNone/>
            </a:pPr>
            <a:r>
              <a:rPr lang="tr-TR" dirty="0">
                <a:ea typeface="+mn-lt"/>
                <a:cs typeface="+mn-lt"/>
                <a:hlinkClick r:id="rId4"/>
              </a:rPr>
              <a:t>https://dergipark.org.tr/en/pub/ajit-e/issue/57481/744555</a:t>
            </a:r>
            <a:endParaRPr lang="tr-TR"/>
          </a:p>
          <a:p>
            <a:pPr marL="0" indent="0">
              <a:buNone/>
            </a:pPr>
            <a:endParaRPr lang="tr-TR" dirty="0"/>
          </a:p>
          <a:p>
            <a:pPr marL="0" indent="0">
              <a:buNone/>
            </a:pPr>
            <a:endParaRPr lang="tr-TR" dirty="0"/>
          </a:p>
        </p:txBody>
      </p:sp>
    </p:spTree>
    <p:extLst>
      <p:ext uri="{BB962C8B-B14F-4D97-AF65-F5344CB8AC3E}">
        <p14:creationId xmlns:p14="http://schemas.microsoft.com/office/powerpoint/2010/main" val="23767003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86E9AA4-0E92-7F3A-BB75-AF8F0310EC7C}"/>
              </a:ext>
            </a:extLst>
          </p:cNvPr>
          <p:cNvSpPr>
            <a:spLocks noGrp="1"/>
          </p:cNvSpPr>
          <p:nvPr>
            <p:ph type="title"/>
          </p:nvPr>
        </p:nvSpPr>
        <p:spPr/>
        <p:txBody>
          <a:bodyPr/>
          <a:lstStyle/>
          <a:p>
            <a:endParaRPr lang="tr-TR"/>
          </a:p>
        </p:txBody>
      </p:sp>
      <p:sp>
        <p:nvSpPr>
          <p:cNvPr id="3" name="İçerik Yer Tutucusu 2">
            <a:extLst>
              <a:ext uri="{FF2B5EF4-FFF2-40B4-BE49-F238E27FC236}">
                <a16:creationId xmlns:a16="http://schemas.microsoft.com/office/drawing/2014/main" id="{2255B7C9-4F4F-52DD-5F41-1E75B2E3104B}"/>
              </a:ext>
            </a:extLst>
          </p:cNvPr>
          <p:cNvSpPr>
            <a:spLocks noGrp="1"/>
          </p:cNvSpPr>
          <p:nvPr>
            <p:ph idx="1"/>
          </p:nvPr>
        </p:nvSpPr>
        <p:spPr>
          <a:xfrm>
            <a:off x="306238" y="359135"/>
            <a:ext cx="11536392" cy="6119752"/>
          </a:xfrm>
        </p:spPr>
        <p:txBody>
          <a:bodyPr vert="horz" lIns="91440" tIns="45720" rIns="91440" bIns="45720" rtlCol="0" anchor="t">
            <a:normAutofit/>
          </a:bodyPr>
          <a:lstStyle/>
          <a:p>
            <a:pPr marL="0" indent="0">
              <a:buNone/>
            </a:pPr>
            <a:endParaRPr lang="tr-TR"/>
          </a:p>
          <a:p>
            <a:pPr marL="0" indent="0">
              <a:buNone/>
            </a:pPr>
            <a:endParaRPr lang="tr-TR" dirty="0"/>
          </a:p>
          <a:p>
            <a:pPr marL="0" indent="0">
              <a:buNone/>
            </a:pPr>
            <a:endParaRPr lang="tr-TR" dirty="0"/>
          </a:p>
          <a:p>
            <a:pPr marL="0" indent="0">
              <a:buNone/>
            </a:pPr>
            <a:endParaRPr lang="tr-TR" dirty="0"/>
          </a:p>
          <a:p>
            <a:pPr marL="0" indent="0">
              <a:buNone/>
            </a:pPr>
            <a:r>
              <a:rPr lang="tr-TR" dirty="0"/>
              <a:t>                   </a:t>
            </a:r>
            <a:r>
              <a:rPr lang="tr-TR" sz="3600" dirty="0"/>
              <a:t>BİZİ DİNLEDİĞİNİZ İÇİN TEŞEKKÜRLER</a:t>
            </a:r>
          </a:p>
        </p:txBody>
      </p:sp>
    </p:spTree>
    <p:extLst>
      <p:ext uri="{BB962C8B-B14F-4D97-AF65-F5344CB8AC3E}">
        <p14:creationId xmlns:p14="http://schemas.microsoft.com/office/powerpoint/2010/main" val="3009854261"/>
      </p:ext>
    </p:extLst>
  </p:cSld>
  <p:clrMapOvr>
    <a:masterClrMapping/>
  </p:clrMapOvr>
</p:sld>
</file>

<file path=ppt/theme/theme1.xml><?xml version="1.0" encoding="utf-8"?>
<a:theme xmlns:a="http://schemas.openxmlformats.org/drawingml/2006/main" name="Ofis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is">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Geniş ekran</PresentationFormat>
  <Paragraphs>0</Paragraphs>
  <Slides>13</Slides>
  <Notes>0</Notes>
  <HiddenSlides>0</HiddenSlides>
  <MMClips>0</MMClips>
  <ScaleCrop>false</ScaleCrop>
  <HeadingPairs>
    <vt:vector size="4" baseType="variant">
      <vt:variant>
        <vt:lpstr>Tema</vt:lpstr>
      </vt:variant>
      <vt:variant>
        <vt:i4>1</vt:i4>
      </vt:variant>
      <vt:variant>
        <vt:lpstr>Slayt Başlıkları</vt:lpstr>
      </vt:variant>
      <vt:variant>
        <vt:i4>13</vt:i4>
      </vt:variant>
    </vt:vector>
  </HeadingPairs>
  <TitlesOfParts>
    <vt:vector size="14" baseType="lpstr">
      <vt:lpstr>Ofis Teması</vt:lpstr>
      <vt:lpstr>Araştırma Yöntem ve Teknikleri</vt:lpstr>
      <vt:lpstr>DİJİTALLEŞME</vt:lpstr>
      <vt:lpstr>Dijitalleşmenin Önemi</vt:lpstr>
      <vt:lpstr>Betül Ersöz  , Mehmet Özmen https://doi.org/10.5824/ajite.2020.03.007.x  </vt:lpstr>
      <vt:lpstr>Veri Toplarken Kullandığımız Yöntemler</vt:lpstr>
      <vt:lpstr>Bulduğumuz Verilerdeki İşlenen İki konu:</vt:lpstr>
      <vt:lpstr>TÜİK Çocuklarda Bilişim Teknolojileri Kullanım Araştırması , 2024</vt:lpstr>
      <vt:lpstr>TÜİK Çocuklarda Bilişim Teknolojileri Kullanım Araştırması , 2024</vt:lpstr>
      <vt:lpstr>TÜİK Çocuklarda Bilişim Teknolojileri Kullanım Araştırması , 2024</vt:lpstr>
      <vt:lpstr>SOSYAL PSIKOLOJI ALANINDA ULUSLARARASI ARAŞTIRMALAR I, CEMİLE ŞEKER,ASLI KAYA,DAMLA KARADAYI, Editör, EĞİTİM YAYINEVİ, Ankara, ss.65-79, 2024</vt:lpstr>
      <vt:lpstr>Makaleden Çıkarmış Olduğumuz Veriler :</vt:lpstr>
      <vt:lpstr>Kaynakça</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367</cp:revision>
  <dcterms:created xsi:type="dcterms:W3CDTF">2025-11-05T16:00:22Z</dcterms:created>
  <dcterms:modified xsi:type="dcterms:W3CDTF">2025-11-05T18:08:05Z</dcterms:modified>
</cp:coreProperties>
</file>
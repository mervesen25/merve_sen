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5" r:id="rId7"/>
    <p:sldId id="261" r:id="rId8"/>
    <p:sldId id="262" r:id="rId9"/>
    <p:sldId id="268" r:id="rId10"/>
    <p:sldId id="263" r:id="rId11"/>
    <p:sldId id="264" r:id="rId12"/>
    <p:sldId id="266" r:id="rId13"/>
    <p:sldId id="267" r:id="rId1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5696D5-E9EE-47FD-8DC5-3900A2730668}" v="72" dt="2025-10-29T20:01:13.2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10/29/2025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17422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10/29/2025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12785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10/29/2025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45704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10/29/2025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65752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10/29/2025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81706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10/29/2025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12742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10/29/2025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7394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10/29/2025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64197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10/29/2025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21098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10/29/2025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30156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10/29/2025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19269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10/29/2025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396732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igitalage.com.tr/" TargetMode="External"/><Relationship Id="rId2" Type="http://schemas.openxmlformats.org/officeDocument/2006/relationships/hyperlink" Target="https://gemini.google.com/" TargetMode="External"/><Relationship Id="rId1" Type="http://schemas.openxmlformats.org/officeDocument/2006/relationships/slideLayout" Target="../slideLayouts/slideLayout2.xml"/><Relationship Id="rId6" Type="http://schemas.openxmlformats.org/officeDocument/2006/relationships/hyperlink" Target="https://dergipark.org.tr/" TargetMode="External"/><Relationship Id="rId5" Type="http://schemas.openxmlformats.org/officeDocument/2006/relationships/hyperlink" Target="https://scholar.google.com/" TargetMode="External"/><Relationship Id="rId4" Type="http://schemas.openxmlformats.org/officeDocument/2006/relationships/hyperlink" Target="https://www.fikrimucit.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 name="Straight Connector 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7" name="Rectangle 11">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Başlık 1"/>
          <p:cNvSpPr>
            <a:spLocks noGrp="1"/>
          </p:cNvSpPr>
          <p:nvPr>
            <p:ph type="ctrTitle"/>
          </p:nvPr>
        </p:nvSpPr>
        <p:spPr>
          <a:xfrm>
            <a:off x="954823" y="2372223"/>
            <a:ext cx="4265763" cy="1744702"/>
          </a:xfrm>
        </p:spPr>
        <p:txBody>
          <a:bodyPr vert="horz" lIns="91440" tIns="45720" rIns="91440" bIns="45720" rtlCol="0" anchor="t">
            <a:normAutofit/>
          </a:bodyPr>
          <a:lstStyle/>
          <a:p>
            <a:pPr>
              <a:lnSpc>
                <a:spcPct val="90000"/>
              </a:lnSpc>
            </a:pPr>
            <a:r>
              <a:rPr lang="en-US" sz="4000" dirty="0" err="1"/>
              <a:t>Araştırma</a:t>
            </a:r>
            <a:r>
              <a:rPr lang="en-US" sz="4000" dirty="0"/>
              <a:t> </a:t>
            </a:r>
            <a:r>
              <a:rPr lang="en-US" sz="4000" dirty="0" err="1"/>
              <a:t>Yöntem</a:t>
            </a:r>
            <a:r>
              <a:rPr lang="en-US" sz="4000" dirty="0"/>
              <a:t> </a:t>
            </a:r>
            <a:r>
              <a:rPr lang="en-US" sz="4000" dirty="0" err="1"/>
              <a:t>ve</a:t>
            </a:r>
            <a:r>
              <a:rPr lang="en-US" sz="4000" dirty="0"/>
              <a:t> </a:t>
            </a:r>
            <a:r>
              <a:rPr lang="en-US" sz="4000" dirty="0" err="1"/>
              <a:t>Teknikleri</a:t>
            </a:r>
          </a:p>
        </p:txBody>
      </p:sp>
      <p:sp>
        <p:nvSpPr>
          <p:cNvPr id="3" name="Alt Başlık 2"/>
          <p:cNvSpPr>
            <a:spLocks noGrp="1"/>
          </p:cNvSpPr>
          <p:nvPr>
            <p:ph type="subTitle" idx="1"/>
          </p:nvPr>
        </p:nvSpPr>
        <p:spPr>
          <a:xfrm>
            <a:off x="5665422" y="2486642"/>
            <a:ext cx="5715529" cy="3002394"/>
          </a:xfrm>
        </p:spPr>
        <p:txBody>
          <a:bodyPr vert="horz" lIns="91440" tIns="45720" rIns="91440" bIns="45720" rtlCol="0" anchor="t">
            <a:normAutofit/>
          </a:bodyPr>
          <a:lstStyle/>
          <a:p>
            <a:pPr>
              <a:lnSpc>
                <a:spcPct val="100000"/>
              </a:lnSpc>
            </a:pPr>
            <a:r>
              <a:rPr lang="en-US" sz="1700" dirty="0"/>
              <a:t>HAZIRLAYANLAR</a:t>
            </a:r>
            <a:endParaRPr lang="tr-TR"/>
          </a:p>
          <a:p>
            <a:pPr marL="285750" indent="-285750">
              <a:lnSpc>
                <a:spcPct val="100000"/>
              </a:lnSpc>
              <a:buChar char="•"/>
            </a:pPr>
            <a:r>
              <a:rPr lang="en-US" sz="1700" dirty="0"/>
              <a:t>Nisanur AY</a:t>
            </a:r>
          </a:p>
          <a:p>
            <a:pPr indent="-228600">
              <a:lnSpc>
                <a:spcPct val="100000"/>
              </a:lnSpc>
              <a:buFont typeface="Arial" panose="020B0604020202020204" pitchFamily="34" charset="0"/>
              <a:buChar char="•"/>
            </a:pPr>
            <a:r>
              <a:rPr lang="en-US" sz="1700" dirty="0"/>
              <a:t>Ronya HSSO</a:t>
            </a:r>
          </a:p>
          <a:p>
            <a:pPr indent="-228600">
              <a:lnSpc>
                <a:spcPct val="100000"/>
              </a:lnSpc>
              <a:buFont typeface="Arial" panose="020B0604020202020204" pitchFamily="34" charset="0"/>
              <a:buChar char="•"/>
            </a:pPr>
            <a:r>
              <a:rPr lang="en-US" sz="1700" dirty="0"/>
              <a:t>Pelin AY</a:t>
            </a:r>
          </a:p>
          <a:p>
            <a:pPr indent="-228600">
              <a:lnSpc>
                <a:spcPct val="100000"/>
              </a:lnSpc>
              <a:buFont typeface="Arial" panose="020B0604020202020204" pitchFamily="34" charset="0"/>
              <a:buChar char="•"/>
            </a:pPr>
            <a:r>
              <a:rPr lang="en-US" sz="1700" dirty="0"/>
              <a:t>Merve ŞEN</a:t>
            </a:r>
            <a:endParaRPr lang="en-US" sz="1700"/>
          </a:p>
        </p:txBody>
      </p:sp>
      <p:cxnSp>
        <p:nvCxnSpPr>
          <p:cNvPr id="14" name="Straight Connector 13">
            <a:extLst>
              <a:ext uri="{FF2B5EF4-FFF2-40B4-BE49-F238E27FC236}">
                <a16:creationId xmlns:a16="http://schemas.microsoft.com/office/drawing/2014/main" id="{8DAB36D8-4A14-4AA5-7A2B-C8B871657A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50816" y="4253446"/>
            <a:ext cx="402336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44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2BB32C6-614A-10EE-61AF-CDD969A9A704}"/>
              </a:ext>
            </a:extLst>
          </p:cNvPr>
          <p:cNvSpPr>
            <a:spLocks noGrp="1"/>
          </p:cNvSpPr>
          <p:nvPr>
            <p:ph type="title"/>
          </p:nvPr>
        </p:nvSpPr>
        <p:spPr/>
        <p:txBody>
          <a:bodyPr/>
          <a:lstStyle/>
          <a:p>
            <a:r>
              <a:rPr lang="tr-TR" dirty="0">
                <a:solidFill>
                  <a:srgbClr val="FF0000"/>
                </a:solidFill>
              </a:rPr>
              <a:t>Dijitalleşmenin</a:t>
            </a:r>
            <a:r>
              <a:rPr lang="tr-TR" dirty="0"/>
              <a:t>  </a:t>
            </a:r>
            <a:r>
              <a:rPr lang="tr-TR" dirty="0">
                <a:solidFill>
                  <a:srgbClr val="FF0000"/>
                </a:solidFill>
              </a:rPr>
              <a:t>toplumsal</a:t>
            </a:r>
            <a:r>
              <a:rPr lang="tr-TR" dirty="0"/>
              <a:t> </a:t>
            </a:r>
            <a:r>
              <a:rPr lang="tr-TR" dirty="0">
                <a:solidFill>
                  <a:srgbClr val="FF0000"/>
                </a:solidFill>
              </a:rPr>
              <a:t>etkileri</a:t>
            </a:r>
            <a:r>
              <a:rPr lang="tr-TR" dirty="0"/>
              <a:t> </a:t>
            </a:r>
            <a:endParaRPr lang="tr-TR" dirty="0">
              <a:solidFill>
                <a:srgbClr val="FF0000"/>
              </a:solidFill>
            </a:endParaRPr>
          </a:p>
        </p:txBody>
      </p:sp>
      <p:sp>
        <p:nvSpPr>
          <p:cNvPr id="3" name="İçerik Yer Tutucusu 2">
            <a:extLst>
              <a:ext uri="{FF2B5EF4-FFF2-40B4-BE49-F238E27FC236}">
                <a16:creationId xmlns:a16="http://schemas.microsoft.com/office/drawing/2014/main" id="{C8649C68-77E2-B0EC-AE4E-C2444AE74B50}"/>
              </a:ext>
            </a:extLst>
          </p:cNvPr>
          <p:cNvSpPr>
            <a:spLocks noGrp="1"/>
          </p:cNvSpPr>
          <p:nvPr>
            <p:ph idx="1"/>
          </p:nvPr>
        </p:nvSpPr>
        <p:spPr/>
        <p:txBody>
          <a:bodyPr vert="horz" lIns="91440" tIns="45720" rIns="91440" bIns="45720" rtlCol="0" anchor="t">
            <a:normAutofit/>
          </a:bodyPr>
          <a:lstStyle/>
          <a:p>
            <a:pPr marL="0" indent="0">
              <a:buNone/>
            </a:pPr>
            <a:r>
              <a:rPr lang="tr-TR" sz="2400" dirty="0"/>
              <a:t>Dijitalleşme Nedir ?</a:t>
            </a:r>
          </a:p>
          <a:p>
            <a:pPr marL="0" indent="0">
              <a:buNone/>
            </a:pPr>
            <a:endParaRPr lang="tr-TR" sz="2400" dirty="0">
              <a:solidFill>
                <a:srgbClr val="000000"/>
              </a:solidFill>
              <a:ea typeface="+mn-lt"/>
              <a:cs typeface="+mn-lt"/>
            </a:endParaRPr>
          </a:p>
          <a:p>
            <a:pPr marL="0" indent="0">
              <a:buNone/>
            </a:pPr>
            <a:r>
              <a:rPr lang="tr-TR" dirty="0">
                <a:solidFill>
                  <a:srgbClr val="393838"/>
                </a:solidFill>
                <a:ea typeface="+mn-lt"/>
                <a:cs typeface="+mn-lt"/>
              </a:rPr>
              <a:t>Dijitalleşme, teknolojik gelişmelerin işletme ve toplum hayatına hızla entegre edilmesi sürecidir. </a:t>
            </a:r>
          </a:p>
          <a:p>
            <a:pPr marL="0" indent="0">
              <a:buNone/>
            </a:pPr>
            <a:endParaRPr lang="tr-TR" dirty="0">
              <a:solidFill>
                <a:srgbClr val="393838"/>
              </a:solidFill>
            </a:endParaRPr>
          </a:p>
          <a:p>
            <a:pPr marL="0" indent="0">
              <a:buNone/>
            </a:pPr>
            <a:r>
              <a:rPr lang="tr-TR" dirty="0">
                <a:solidFill>
                  <a:srgbClr val="393838"/>
                </a:solidFill>
              </a:rPr>
              <a:t>Dijitalleşmeyi seçmemizin nedenleri; günümüzün güncel bir konusu olması , yaparken bizim de bir şeyler öğrenip hayatımıza uygulama amacımızın olması.</a:t>
            </a:r>
          </a:p>
        </p:txBody>
      </p:sp>
    </p:spTree>
    <p:extLst>
      <p:ext uri="{BB962C8B-B14F-4D97-AF65-F5344CB8AC3E}">
        <p14:creationId xmlns:p14="http://schemas.microsoft.com/office/powerpoint/2010/main" val="2955910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B43314-EC38-A0C6-7989-34D0B1B30BE7}"/>
              </a:ext>
            </a:extLst>
          </p:cNvPr>
          <p:cNvSpPr>
            <a:spLocks noGrp="1"/>
          </p:cNvSpPr>
          <p:nvPr>
            <p:ph type="title"/>
          </p:nvPr>
        </p:nvSpPr>
        <p:spPr/>
        <p:txBody>
          <a:bodyPr/>
          <a:lstStyle/>
          <a:p>
            <a:r>
              <a:rPr lang="tr-TR" dirty="0">
                <a:solidFill>
                  <a:srgbClr val="FF0000"/>
                </a:solidFill>
              </a:rPr>
              <a:t>Dijitalleşmenin önemi</a:t>
            </a:r>
          </a:p>
        </p:txBody>
      </p:sp>
      <p:sp>
        <p:nvSpPr>
          <p:cNvPr id="3" name="İçerik Yer Tutucusu 2">
            <a:extLst>
              <a:ext uri="{FF2B5EF4-FFF2-40B4-BE49-F238E27FC236}">
                <a16:creationId xmlns:a16="http://schemas.microsoft.com/office/drawing/2014/main" id="{AD823857-CE00-612C-782F-385E04947E77}"/>
              </a:ext>
            </a:extLst>
          </p:cNvPr>
          <p:cNvSpPr>
            <a:spLocks noGrp="1"/>
          </p:cNvSpPr>
          <p:nvPr>
            <p:ph idx="1"/>
          </p:nvPr>
        </p:nvSpPr>
        <p:spPr/>
        <p:txBody>
          <a:bodyPr vert="horz" lIns="91440" tIns="45720" rIns="91440" bIns="45720" rtlCol="0" anchor="t">
            <a:normAutofit/>
          </a:bodyPr>
          <a:lstStyle/>
          <a:p>
            <a:pPr>
              <a:buFont typeface="Wingdings" panose="020B0604020202020204" pitchFamily="34" charset="0"/>
              <a:buChar char="v"/>
            </a:pPr>
            <a:r>
              <a:rPr lang="tr-TR" dirty="0">
                <a:solidFill>
                  <a:srgbClr val="FF0000"/>
                </a:solidFill>
              </a:rPr>
              <a:t> Verimlilik: </a:t>
            </a:r>
            <a:r>
              <a:rPr lang="tr-TR" dirty="0">
                <a:solidFill>
                  <a:srgbClr val="374151"/>
                </a:solidFill>
                <a:ea typeface="+mn-lt"/>
                <a:cs typeface="+mn-lt"/>
              </a:rPr>
              <a:t>Dijitalleşme, süreçlerin otomatikleştirilmesi ve hızlandırılması yoluyla verimliliği artırır.</a:t>
            </a:r>
          </a:p>
          <a:p>
            <a:pPr>
              <a:buFont typeface="Wingdings" panose="020B0604020202020204" pitchFamily="34" charset="0"/>
              <a:buChar char="v"/>
            </a:pPr>
            <a:r>
              <a:rPr lang="tr-TR" dirty="0">
                <a:solidFill>
                  <a:srgbClr val="FF0000"/>
                </a:solidFill>
              </a:rPr>
              <a:t> Erişebilirlik:</a:t>
            </a:r>
            <a:r>
              <a:rPr lang="tr-TR" dirty="0">
                <a:solidFill>
                  <a:srgbClr val="FF0000"/>
                </a:solidFill>
                <a:ea typeface="+mn-lt"/>
                <a:cs typeface="+mn-lt"/>
              </a:rPr>
              <a:t> </a:t>
            </a:r>
            <a:r>
              <a:rPr lang="tr-TR" dirty="0">
                <a:solidFill>
                  <a:srgbClr val="374151"/>
                </a:solidFill>
                <a:ea typeface="+mn-lt"/>
                <a:cs typeface="+mn-lt"/>
              </a:rPr>
              <a:t>Dijitalleşme, bilgiye ve hizmetlere kolayca ve hızlıca erişim sağlar.</a:t>
            </a:r>
          </a:p>
          <a:p>
            <a:pPr>
              <a:buFont typeface="Wingdings" panose="020B0604020202020204" pitchFamily="34" charset="0"/>
              <a:buChar char="v"/>
            </a:pPr>
            <a:endParaRPr lang="tr-TR" dirty="0">
              <a:solidFill>
                <a:srgbClr val="374151"/>
              </a:solidFill>
              <a:ea typeface="+mn-lt"/>
              <a:cs typeface="+mn-lt"/>
            </a:endParaRPr>
          </a:p>
          <a:p>
            <a:pPr>
              <a:buFont typeface="Wingdings" panose="020B0604020202020204" pitchFamily="34" charset="0"/>
              <a:buChar char="v"/>
            </a:pPr>
            <a:r>
              <a:rPr lang="tr-TR" dirty="0">
                <a:solidFill>
                  <a:srgbClr val="FF0000"/>
                </a:solidFill>
                <a:ea typeface="+mn-lt"/>
                <a:cs typeface="+mn-lt"/>
              </a:rPr>
              <a:t> Sürdürülebilirlik:</a:t>
            </a:r>
            <a:r>
              <a:rPr lang="tr-TR" dirty="0">
                <a:solidFill>
                  <a:srgbClr val="374151"/>
                </a:solidFill>
                <a:ea typeface="+mn-lt"/>
                <a:cs typeface="+mn-lt"/>
              </a:rPr>
              <a:t> Dijitalleşme, kağıt tüketimini azaltır ve dolayısıyla çevre üzerindeki etkileri azaltır.</a:t>
            </a:r>
            <a:endParaRPr lang="tr-TR" dirty="0">
              <a:solidFill>
                <a:srgbClr val="FF0000"/>
              </a:solidFill>
              <a:ea typeface="+mn-lt"/>
              <a:cs typeface="+mn-lt"/>
            </a:endParaRPr>
          </a:p>
          <a:p>
            <a:pPr>
              <a:buFont typeface="Wingdings" panose="020B0604020202020204" pitchFamily="34" charset="0"/>
              <a:buChar char="v"/>
            </a:pPr>
            <a:r>
              <a:rPr lang="tr-TR" dirty="0">
                <a:solidFill>
                  <a:srgbClr val="FF0000"/>
                </a:solidFill>
                <a:ea typeface="+mn-lt"/>
                <a:cs typeface="+mn-lt"/>
              </a:rPr>
              <a:t> Küreselleşme: </a:t>
            </a:r>
            <a:r>
              <a:rPr lang="tr-TR" dirty="0">
                <a:solidFill>
                  <a:srgbClr val="374151"/>
                </a:solidFill>
                <a:ea typeface="+mn-lt"/>
                <a:cs typeface="+mn-lt"/>
              </a:rPr>
              <a:t>Dijitalleşme, dünya çapında iletişimi ve işbirliğini kolaylaştırır, böylece küreselleşmeyi ilerletir.</a:t>
            </a:r>
          </a:p>
          <a:p>
            <a:pPr>
              <a:buFont typeface="Wingdings" panose="020B0604020202020204" pitchFamily="34" charset="0"/>
              <a:buChar char="v"/>
            </a:pPr>
            <a:endParaRPr lang="tr-TR" dirty="0">
              <a:solidFill>
                <a:srgbClr val="374151"/>
              </a:solidFill>
              <a:ea typeface="+mn-lt"/>
              <a:cs typeface="+mn-lt"/>
            </a:endParaRPr>
          </a:p>
          <a:p>
            <a:pPr>
              <a:buFont typeface="Wingdings" panose="020B0604020202020204" pitchFamily="34" charset="0"/>
              <a:buChar char="v"/>
            </a:pPr>
            <a:endParaRPr lang="tr-TR" dirty="0">
              <a:solidFill>
                <a:srgbClr val="374151"/>
              </a:solidFill>
              <a:ea typeface="+mn-lt"/>
              <a:cs typeface="+mn-lt"/>
            </a:endParaRPr>
          </a:p>
          <a:p>
            <a:pPr>
              <a:buFont typeface="Wingdings" panose="020B0604020202020204" pitchFamily="34" charset="0"/>
              <a:buChar char="v"/>
            </a:pPr>
            <a:endParaRPr lang="tr-TR" dirty="0">
              <a:solidFill>
                <a:srgbClr val="374151"/>
              </a:solidFill>
              <a:ea typeface="+mn-lt"/>
              <a:cs typeface="+mn-lt"/>
            </a:endParaRPr>
          </a:p>
        </p:txBody>
      </p:sp>
    </p:spTree>
    <p:extLst>
      <p:ext uri="{BB962C8B-B14F-4D97-AF65-F5344CB8AC3E}">
        <p14:creationId xmlns:p14="http://schemas.microsoft.com/office/powerpoint/2010/main" val="772132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416FFF7-8EBD-362F-34FD-17DB008CE2AC}"/>
              </a:ext>
            </a:extLst>
          </p:cNvPr>
          <p:cNvSpPr>
            <a:spLocks noGrp="1"/>
          </p:cNvSpPr>
          <p:nvPr>
            <p:ph type="title"/>
          </p:nvPr>
        </p:nvSpPr>
        <p:spPr>
          <a:xfrm>
            <a:off x="704088" y="914400"/>
            <a:ext cx="5195889" cy="1316736"/>
          </a:xfrm>
        </p:spPr>
        <p:txBody>
          <a:bodyPr>
            <a:normAutofit/>
          </a:bodyPr>
          <a:lstStyle/>
          <a:p>
            <a:r>
              <a:rPr lang="tr-TR"/>
              <a:t>Dijitalleşmeyle  ilgili  kavramlar</a:t>
            </a:r>
          </a:p>
        </p:txBody>
      </p:sp>
      <p:cxnSp>
        <p:nvCxnSpPr>
          <p:cNvPr id="11" name="Straight Connector 10">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473389F3-7730-DB93-0A10-933A9B6C6A82}"/>
              </a:ext>
            </a:extLst>
          </p:cNvPr>
          <p:cNvSpPr>
            <a:spLocks noGrp="1"/>
          </p:cNvSpPr>
          <p:nvPr>
            <p:ph idx="1"/>
          </p:nvPr>
        </p:nvSpPr>
        <p:spPr>
          <a:xfrm>
            <a:off x="704088" y="2231136"/>
            <a:ext cx="5195889" cy="3931920"/>
          </a:xfrm>
        </p:spPr>
        <p:txBody>
          <a:bodyPr vert="horz" lIns="91440" tIns="45720" rIns="91440" bIns="45720" rtlCol="0">
            <a:normAutofit/>
          </a:bodyPr>
          <a:lstStyle/>
          <a:p>
            <a:pPr marL="342900" indent="-342900">
              <a:buFont typeface="Wingdings" panose="020B0604020202020204" pitchFamily="34" charset="0"/>
              <a:buChar char="Ø"/>
            </a:pPr>
            <a:r>
              <a:rPr lang="tr-TR" dirty="0" err="1"/>
              <a:t>Dijitizasyon</a:t>
            </a:r>
          </a:p>
          <a:p>
            <a:pPr marL="342900" indent="-342900">
              <a:buFont typeface="Wingdings" panose="020B0604020202020204" pitchFamily="34" charset="0"/>
              <a:buChar char="Ø"/>
            </a:pPr>
            <a:r>
              <a:rPr lang="tr-TR" dirty="0"/>
              <a:t>Dijital dönüşüm</a:t>
            </a:r>
          </a:p>
          <a:p>
            <a:pPr marL="342900" indent="-342900">
              <a:buFont typeface="Wingdings" panose="020B0604020202020204" pitchFamily="34" charset="0"/>
              <a:buChar char="Ø"/>
            </a:pPr>
            <a:r>
              <a:rPr lang="tr-TR" dirty="0"/>
              <a:t>Dijital uçurum</a:t>
            </a:r>
          </a:p>
          <a:p>
            <a:pPr marL="342900" indent="-342900">
              <a:buFont typeface="Wingdings" panose="020B0604020202020204" pitchFamily="34" charset="0"/>
              <a:buChar char="Ø"/>
            </a:pPr>
            <a:r>
              <a:rPr lang="tr-TR" dirty="0"/>
              <a:t>Siber güvenlik</a:t>
            </a:r>
          </a:p>
          <a:p>
            <a:pPr marL="342900" indent="-342900">
              <a:buFont typeface="Wingdings" panose="020B0604020202020204" pitchFamily="34" charset="0"/>
              <a:buChar char="Ø"/>
            </a:pPr>
            <a:r>
              <a:rPr lang="tr-TR" dirty="0"/>
              <a:t>Mahremiyet </a:t>
            </a:r>
          </a:p>
          <a:p>
            <a:pPr marL="342900" indent="-342900">
              <a:buFont typeface="Wingdings" panose="020B0604020202020204" pitchFamily="34" charset="0"/>
              <a:buChar char="Ø"/>
            </a:pPr>
            <a:r>
              <a:rPr lang="tr-TR" dirty="0"/>
              <a:t>Sosyal medya</a:t>
            </a:r>
          </a:p>
          <a:p>
            <a:pPr marL="342900" indent="-342900">
              <a:buFont typeface="Wingdings" panose="020B0604020202020204" pitchFamily="34" charset="0"/>
              <a:buChar char="Ø"/>
            </a:pPr>
            <a:r>
              <a:rPr lang="tr-TR" dirty="0"/>
              <a:t>Yapay zeka</a:t>
            </a:r>
          </a:p>
        </p:txBody>
      </p:sp>
      <p:pic>
        <p:nvPicPr>
          <p:cNvPr id="4" name="Resim 3" descr="ekran görüntüsü, sanat, kişi, şahıs içeren bir resim&#10;&#10;Yapay zeka tarafından oluşturulmuş içerik yanlış olabilir.">
            <a:extLst>
              <a:ext uri="{FF2B5EF4-FFF2-40B4-BE49-F238E27FC236}">
                <a16:creationId xmlns:a16="http://schemas.microsoft.com/office/drawing/2014/main" id="{F29DCC23-1ED0-D0D8-B9C6-8914043D6555}"/>
              </a:ext>
            </a:extLst>
          </p:cNvPr>
          <p:cNvPicPr>
            <a:picLocks noChangeAspect="1"/>
          </p:cNvPicPr>
          <p:nvPr/>
        </p:nvPicPr>
        <p:blipFill>
          <a:blip r:embed="rId2"/>
          <a:srcRect l="11374" r="30117" b="-1"/>
          <a:stretch>
            <a:fillRect/>
          </a:stretch>
        </p:blipFill>
        <p:spPr>
          <a:xfrm>
            <a:off x="6420752" y="731520"/>
            <a:ext cx="5055865" cy="5422392"/>
          </a:xfrm>
          <a:prstGeom prst="rect">
            <a:avLst/>
          </a:prstGeom>
        </p:spPr>
      </p:pic>
    </p:spTree>
    <p:extLst>
      <p:ext uri="{BB962C8B-B14F-4D97-AF65-F5344CB8AC3E}">
        <p14:creationId xmlns:p14="http://schemas.microsoft.com/office/powerpoint/2010/main" val="1487234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5">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5D3D241-449A-F935-D711-ED704E011DAE}"/>
              </a:ext>
            </a:extLst>
          </p:cNvPr>
          <p:cNvSpPr>
            <a:spLocks noGrp="1"/>
          </p:cNvSpPr>
          <p:nvPr>
            <p:ph type="title"/>
          </p:nvPr>
        </p:nvSpPr>
        <p:spPr>
          <a:xfrm>
            <a:off x="704088" y="914400"/>
            <a:ext cx="5195889" cy="1316736"/>
          </a:xfrm>
        </p:spPr>
        <p:txBody>
          <a:bodyPr>
            <a:normAutofit/>
          </a:bodyPr>
          <a:lstStyle/>
          <a:p>
            <a:r>
              <a:rPr lang="tr-TR"/>
              <a:t>Dijitalleşme</a:t>
            </a:r>
          </a:p>
        </p:txBody>
      </p:sp>
      <p:cxnSp>
        <p:nvCxnSpPr>
          <p:cNvPr id="14" name="Straight Connector 17">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İçerik Yer Tutucusu 2">
            <a:extLst>
              <a:ext uri="{FF2B5EF4-FFF2-40B4-BE49-F238E27FC236}">
                <a16:creationId xmlns:a16="http://schemas.microsoft.com/office/drawing/2014/main" id="{60F99A13-0655-0F4B-222C-1308E1DACD3E}"/>
              </a:ext>
            </a:extLst>
          </p:cNvPr>
          <p:cNvSpPr>
            <a:spLocks noGrp="1"/>
          </p:cNvSpPr>
          <p:nvPr>
            <p:ph idx="1"/>
          </p:nvPr>
        </p:nvSpPr>
        <p:spPr>
          <a:xfrm>
            <a:off x="704088" y="2231136"/>
            <a:ext cx="5195889" cy="3931920"/>
          </a:xfrm>
        </p:spPr>
        <p:txBody>
          <a:bodyPr vert="horz" lIns="91440" tIns="45720" rIns="91440" bIns="45720" rtlCol="0" anchor="t">
            <a:normAutofit/>
          </a:bodyPr>
          <a:lstStyle/>
          <a:p>
            <a:pPr marL="0" indent="0">
              <a:lnSpc>
                <a:spcPct val="100000"/>
              </a:lnSpc>
              <a:buNone/>
            </a:pPr>
            <a:r>
              <a:rPr lang="tr-TR" sz="1900" dirty="0"/>
              <a:t>Biz dijitalleşmeyi 5 alt başlık halinde ele alacağız </a:t>
            </a:r>
          </a:p>
          <a:p>
            <a:pPr marL="0" indent="0">
              <a:lnSpc>
                <a:spcPct val="100000"/>
              </a:lnSpc>
              <a:buNone/>
            </a:pPr>
            <a:endParaRPr lang="tr-TR" sz="1900"/>
          </a:p>
          <a:p>
            <a:pPr marL="342900" indent="-342900">
              <a:lnSpc>
                <a:spcPct val="100000"/>
              </a:lnSpc>
              <a:buFont typeface="Wingdings" panose="020B0604020202020204" pitchFamily="34" charset="0"/>
              <a:buChar char="Ø"/>
            </a:pPr>
            <a:r>
              <a:rPr lang="tr-TR" sz="1900" dirty="0"/>
              <a:t>İstihdam ve İşgücü Piyasası Üzerindeki Etkisi</a:t>
            </a:r>
          </a:p>
          <a:p>
            <a:pPr marL="342900" indent="-342900">
              <a:lnSpc>
                <a:spcPct val="100000"/>
              </a:lnSpc>
              <a:buFont typeface="Wingdings" panose="020B0604020202020204" pitchFamily="34" charset="0"/>
              <a:buChar char="Ø"/>
            </a:pPr>
            <a:r>
              <a:rPr lang="tr-TR" sz="1900" dirty="0"/>
              <a:t>Sosyal </a:t>
            </a:r>
            <a:r>
              <a:rPr lang="tr-TR" sz="1900" dirty="0" err="1"/>
              <a:t>İlişkiler,İletişim</a:t>
            </a:r>
            <a:r>
              <a:rPr lang="tr-TR" sz="1900" dirty="0"/>
              <a:t> ve Toplumsal Katılım</a:t>
            </a:r>
          </a:p>
          <a:p>
            <a:pPr marL="342900" indent="-342900">
              <a:lnSpc>
                <a:spcPct val="100000"/>
              </a:lnSpc>
              <a:buFont typeface="Wingdings" panose="020B0604020202020204" pitchFamily="34" charset="0"/>
              <a:buChar char="Ø"/>
            </a:pPr>
            <a:r>
              <a:rPr lang="tr-TR" sz="1900" dirty="0"/>
              <a:t>Dijital Eşitsizlik ( Dijital Uçurum) ve Sosyal Adalet</a:t>
            </a:r>
          </a:p>
          <a:p>
            <a:pPr marL="342900" indent="-342900">
              <a:lnSpc>
                <a:spcPct val="100000"/>
              </a:lnSpc>
              <a:buFont typeface="Wingdings" panose="020B0604020202020204" pitchFamily="34" charset="0"/>
              <a:buChar char="Ø"/>
            </a:pPr>
            <a:r>
              <a:rPr lang="tr-TR" sz="1900" dirty="0" err="1"/>
              <a:t>Mahremiyet,Siber</a:t>
            </a:r>
            <a:r>
              <a:rPr lang="tr-TR" sz="1900" dirty="0"/>
              <a:t> Güvenlik ve Etik Sorunlar</a:t>
            </a:r>
          </a:p>
          <a:p>
            <a:pPr marL="342900" indent="-342900">
              <a:lnSpc>
                <a:spcPct val="100000"/>
              </a:lnSpc>
              <a:buFont typeface="Wingdings" panose="020B0604020202020204" pitchFamily="34" charset="0"/>
              <a:buChar char="Ø"/>
            </a:pPr>
            <a:r>
              <a:rPr lang="tr-TR" sz="1900" dirty="0"/>
              <a:t>Kültürel Dönüşüm ve Gündelik Yaşam Pratikleri</a:t>
            </a:r>
          </a:p>
        </p:txBody>
      </p:sp>
      <p:pic>
        <p:nvPicPr>
          <p:cNvPr id="4" name="Resim 3" descr="ekran görüntüsü, metin, daire, meneviş mavisi içeren bir resim&#10;&#10;Yapay zeka tarafından oluşturulmuş içerik yanlış olabilir.">
            <a:extLst>
              <a:ext uri="{FF2B5EF4-FFF2-40B4-BE49-F238E27FC236}">
                <a16:creationId xmlns:a16="http://schemas.microsoft.com/office/drawing/2014/main" id="{8A5FE1D4-3D2E-8CB1-482D-52C3DBCD96FC}"/>
              </a:ext>
            </a:extLst>
          </p:cNvPr>
          <p:cNvPicPr>
            <a:picLocks noChangeAspect="1"/>
          </p:cNvPicPr>
          <p:nvPr/>
        </p:nvPicPr>
        <p:blipFill>
          <a:blip r:embed="rId2"/>
          <a:srcRect l="28199" r="1639" b="2"/>
          <a:stretch>
            <a:fillRect/>
          </a:stretch>
        </p:blipFill>
        <p:spPr>
          <a:xfrm>
            <a:off x="6420752" y="731520"/>
            <a:ext cx="5055865" cy="5422392"/>
          </a:xfrm>
          <a:prstGeom prst="rect">
            <a:avLst/>
          </a:prstGeom>
        </p:spPr>
      </p:pic>
    </p:spTree>
    <p:extLst>
      <p:ext uri="{BB962C8B-B14F-4D97-AF65-F5344CB8AC3E}">
        <p14:creationId xmlns:p14="http://schemas.microsoft.com/office/powerpoint/2010/main" val="2467715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C7FB369-F75B-6D8A-DAD4-2E13BBEF35CE}"/>
              </a:ext>
            </a:extLst>
          </p:cNvPr>
          <p:cNvSpPr>
            <a:spLocks noGrp="1"/>
          </p:cNvSpPr>
          <p:nvPr>
            <p:ph type="title"/>
          </p:nvPr>
        </p:nvSpPr>
        <p:spPr/>
        <p:txBody>
          <a:bodyPr>
            <a:normAutofit/>
          </a:bodyPr>
          <a:lstStyle/>
          <a:p>
            <a:r>
              <a:rPr lang="tr-TR" sz="2800" dirty="0">
                <a:solidFill>
                  <a:srgbClr val="FF0000"/>
                </a:solidFill>
              </a:rPr>
              <a:t>İstihdam ve iş gücü piyasası üzerine hipotez  ve bağımlı ,  bağımsız değişken</a:t>
            </a:r>
          </a:p>
        </p:txBody>
      </p:sp>
      <p:sp>
        <p:nvSpPr>
          <p:cNvPr id="3" name="İçerik Yer Tutucusu 2">
            <a:extLst>
              <a:ext uri="{FF2B5EF4-FFF2-40B4-BE49-F238E27FC236}">
                <a16:creationId xmlns:a16="http://schemas.microsoft.com/office/drawing/2014/main" id="{6ADB4959-21CC-CF82-F43B-FFB84B2404F3}"/>
              </a:ext>
            </a:extLst>
          </p:cNvPr>
          <p:cNvSpPr>
            <a:spLocks noGrp="1"/>
          </p:cNvSpPr>
          <p:nvPr>
            <p:ph idx="1"/>
          </p:nvPr>
        </p:nvSpPr>
        <p:spPr/>
        <p:txBody>
          <a:bodyPr vert="horz" lIns="91440" tIns="45720" rIns="91440" bIns="45720" rtlCol="0" anchor="t">
            <a:normAutofit/>
          </a:bodyPr>
          <a:lstStyle/>
          <a:p>
            <a:pPr marL="0" indent="0">
              <a:buNone/>
            </a:pPr>
            <a:r>
              <a:rPr lang="tr-TR" b="1" dirty="0">
                <a:ea typeface="+mn-lt"/>
                <a:cs typeface="+mn-lt"/>
              </a:rPr>
              <a:t>HİPOTEZ :</a:t>
            </a:r>
            <a:r>
              <a:rPr lang="tr-TR" dirty="0">
                <a:ea typeface="+mn-lt"/>
                <a:cs typeface="+mn-lt"/>
              </a:rPr>
              <a:t> Yapay zeka ve otomasyon teknolojilerinin iş süreçlerine entegrasyonu, </a:t>
            </a:r>
            <a:r>
              <a:rPr lang="tr-TR" b="1" dirty="0">
                <a:ea typeface="+mn-lt"/>
                <a:cs typeface="+mn-lt"/>
              </a:rPr>
              <a:t>düşük beceri gerektiren mesleklerdeki istihdamı azaltarak</a:t>
            </a:r>
            <a:r>
              <a:rPr lang="tr-TR" dirty="0">
                <a:ea typeface="+mn-lt"/>
                <a:cs typeface="+mn-lt"/>
              </a:rPr>
              <a:t> ve yüksek beceri gerektiren yeni roller yaratarak iş gücü piyasasında köklü bir yapısal dönüşüme neden olmaktadır.</a:t>
            </a:r>
          </a:p>
          <a:p>
            <a:pPr marL="0" indent="0">
              <a:buNone/>
            </a:pPr>
            <a:endParaRPr lang="tr-TR" dirty="0"/>
          </a:p>
          <a:p>
            <a:pPr marL="0" indent="0">
              <a:buNone/>
            </a:pPr>
            <a:r>
              <a:rPr lang="tr-TR" b="1" dirty="0"/>
              <a:t>Bağımsız Değişken :</a:t>
            </a:r>
            <a:r>
              <a:rPr lang="tr-TR" b="1" dirty="0">
                <a:ea typeface="+mn-lt"/>
                <a:cs typeface="+mn-lt"/>
              </a:rPr>
              <a:t> </a:t>
            </a:r>
            <a:r>
              <a:rPr lang="tr-TR" dirty="0">
                <a:ea typeface="+mn-lt"/>
                <a:cs typeface="+mn-lt"/>
              </a:rPr>
              <a:t>Bir sektörde veya ekonomide dijital teknolojilerin (</a:t>
            </a:r>
            <a:r>
              <a:rPr lang="tr-TR" dirty="0" err="1">
                <a:ea typeface="+mn-lt"/>
                <a:cs typeface="+mn-lt"/>
              </a:rPr>
              <a:t>robotlar,yapay</a:t>
            </a:r>
            <a:r>
              <a:rPr lang="tr-TR" dirty="0">
                <a:ea typeface="+mn-lt"/>
                <a:cs typeface="+mn-lt"/>
              </a:rPr>
              <a:t> zeka yazılımları) kullanım yoğunluğu.</a:t>
            </a:r>
          </a:p>
          <a:p>
            <a:pPr marL="0" indent="0">
              <a:buNone/>
            </a:pPr>
            <a:endParaRPr lang="tr-TR" dirty="0">
              <a:ea typeface="+mn-lt"/>
              <a:cs typeface="+mn-lt"/>
            </a:endParaRPr>
          </a:p>
          <a:p>
            <a:pPr marL="0" indent="0">
              <a:buNone/>
            </a:pPr>
            <a:r>
              <a:rPr lang="tr-TR" b="1" dirty="0">
                <a:ea typeface="+mn-lt"/>
                <a:cs typeface="+mn-lt"/>
              </a:rPr>
              <a:t>Bağımlı Değişken : </a:t>
            </a:r>
            <a:r>
              <a:rPr lang="tr-TR" dirty="0">
                <a:ea typeface="+mn-lt"/>
                <a:cs typeface="+mn-lt"/>
              </a:rPr>
              <a:t>Ekonomideki toplam istihdam düzeyi, yeni mesleklerin oranı veya rutin görevlerdeki iş kaybı oranı.</a:t>
            </a:r>
          </a:p>
          <a:p>
            <a:pPr marL="0" indent="0">
              <a:buNone/>
            </a:pPr>
            <a:endParaRPr lang="tr-TR" dirty="0">
              <a:ea typeface="+mn-lt"/>
              <a:cs typeface="+mn-lt"/>
            </a:endParaRPr>
          </a:p>
        </p:txBody>
      </p:sp>
    </p:spTree>
    <p:extLst>
      <p:ext uri="{BB962C8B-B14F-4D97-AF65-F5344CB8AC3E}">
        <p14:creationId xmlns:p14="http://schemas.microsoft.com/office/powerpoint/2010/main" val="2886185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54ADB4C-7500-75E3-4EA6-BE11399FF111}"/>
              </a:ext>
            </a:extLst>
          </p:cNvPr>
          <p:cNvSpPr>
            <a:spLocks noGrp="1"/>
          </p:cNvSpPr>
          <p:nvPr>
            <p:ph type="title"/>
          </p:nvPr>
        </p:nvSpPr>
        <p:spPr/>
        <p:txBody>
          <a:bodyPr>
            <a:normAutofit/>
          </a:bodyPr>
          <a:lstStyle/>
          <a:p>
            <a:pPr>
              <a:lnSpc>
                <a:spcPct val="110000"/>
              </a:lnSpc>
              <a:spcBef>
                <a:spcPts val="1000"/>
              </a:spcBef>
            </a:pPr>
            <a:r>
              <a:rPr lang="tr-TR" sz="2800" dirty="0">
                <a:solidFill>
                  <a:srgbClr val="FF0000"/>
                </a:solidFill>
              </a:rPr>
              <a:t>Dijitalleşmenin istihdam ve işgücü piyasası üzerindeki olumlu etkisi</a:t>
            </a:r>
            <a:endParaRPr lang="tr-TR" sz="2800" dirty="0">
              <a:solidFill>
                <a:srgbClr val="FF0000"/>
              </a:solidFill>
              <a:latin typeface="Calisto MT"/>
            </a:endParaRPr>
          </a:p>
        </p:txBody>
      </p:sp>
      <p:sp>
        <p:nvSpPr>
          <p:cNvPr id="3" name="İçerik Yer Tutucusu 2">
            <a:extLst>
              <a:ext uri="{FF2B5EF4-FFF2-40B4-BE49-F238E27FC236}">
                <a16:creationId xmlns:a16="http://schemas.microsoft.com/office/drawing/2014/main" id="{983F6016-2801-7E76-2C76-47FC48F10814}"/>
              </a:ext>
            </a:extLst>
          </p:cNvPr>
          <p:cNvSpPr>
            <a:spLocks noGrp="1"/>
          </p:cNvSpPr>
          <p:nvPr>
            <p:ph idx="1"/>
          </p:nvPr>
        </p:nvSpPr>
        <p:spPr/>
        <p:txBody>
          <a:bodyPr vert="horz" lIns="91440" tIns="45720" rIns="91440" bIns="45720" rtlCol="0" anchor="t">
            <a:normAutofit/>
          </a:bodyPr>
          <a:lstStyle/>
          <a:p>
            <a:pPr marL="0" indent="0">
              <a:buNone/>
            </a:pPr>
            <a:r>
              <a:rPr lang="tr-TR" dirty="0">
                <a:ea typeface="+mn-lt"/>
                <a:cs typeface="+mn-lt"/>
              </a:rPr>
              <a:t>Dijitalleşmenin en belirgin olumlu etkisi, özellikle Yapay Zeka ve otomasyon sayesinde </a:t>
            </a:r>
            <a:r>
              <a:rPr lang="tr-TR" b="1" dirty="0">
                <a:ea typeface="+mn-lt"/>
                <a:cs typeface="+mn-lt"/>
              </a:rPr>
              <a:t>genel verimlilik ve ekonomik çıktı</a:t>
            </a:r>
            <a:r>
              <a:rPr lang="tr-TR" dirty="0">
                <a:ea typeface="+mn-lt"/>
                <a:cs typeface="+mn-lt"/>
              </a:rPr>
              <a:t> düzeyini artırmasıdır. Makineler, rutin ve tekrarlayan görevleri üstlenerek insanları daha yaratıcı, analitik ve stratejik düşünme gerektiren </a:t>
            </a:r>
            <a:r>
              <a:rPr lang="tr-TR" b="1" dirty="0">
                <a:ea typeface="+mn-lt"/>
                <a:cs typeface="+mn-lt"/>
              </a:rPr>
              <a:t>yüksek değerli işlere</a:t>
            </a:r>
            <a:r>
              <a:rPr lang="tr-TR" dirty="0">
                <a:ea typeface="+mn-lt"/>
                <a:cs typeface="+mn-lt"/>
              </a:rPr>
              <a:t> yönlendirir. Bu süreç, sadece mevcut işlerin kalitesini artırmakla kalmaz, aynı zamanda veri bilimci, bulut mimarı ve siber güvenlik uzmanı gibi </a:t>
            </a:r>
            <a:r>
              <a:rPr lang="tr-TR" b="1" dirty="0">
                <a:ea typeface="+mn-lt"/>
                <a:cs typeface="+mn-lt"/>
              </a:rPr>
              <a:t>yeni ve yüksek ücretli meslekler</a:t>
            </a:r>
            <a:r>
              <a:rPr lang="tr-TR" dirty="0">
                <a:ea typeface="+mn-lt"/>
                <a:cs typeface="+mn-lt"/>
              </a:rPr>
              <a:t> yaratır. Ayrıca, dijital teknolojiler </a:t>
            </a:r>
            <a:r>
              <a:rPr lang="tr-TR" b="1" dirty="0">
                <a:ea typeface="+mn-lt"/>
                <a:cs typeface="+mn-lt"/>
              </a:rPr>
              <a:t>uzaktan ve esnek çalışma</a:t>
            </a:r>
            <a:r>
              <a:rPr lang="tr-TR" dirty="0">
                <a:ea typeface="+mn-lt"/>
                <a:cs typeface="+mn-lt"/>
              </a:rPr>
              <a:t> modellerini mümkün kılarak çalışanların iş-yaşam dengesini iyileştirme ve coğrafi engelleri kaldırarak daha geniş bir yetenek havuzundan yararlanma fırsatı sunar.</a:t>
            </a:r>
            <a:endParaRPr lang="tr-TR" dirty="0"/>
          </a:p>
        </p:txBody>
      </p:sp>
    </p:spTree>
    <p:extLst>
      <p:ext uri="{BB962C8B-B14F-4D97-AF65-F5344CB8AC3E}">
        <p14:creationId xmlns:p14="http://schemas.microsoft.com/office/powerpoint/2010/main" val="2361541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01FAF6-A32D-F0AA-A301-D6157C2A93A2}"/>
              </a:ext>
            </a:extLst>
          </p:cNvPr>
          <p:cNvSpPr>
            <a:spLocks noGrp="1"/>
          </p:cNvSpPr>
          <p:nvPr>
            <p:ph type="title"/>
          </p:nvPr>
        </p:nvSpPr>
        <p:spPr/>
        <p:txBody>
          <a:bodyPr>
            <a:normAutofit/>
          </a:bodyPr>
          <a:lstStyle/>
          <a:p>
            <a:r>
              <a:rPr lang="tr-TR" sz="2800" dirty="0">
                <a:solidFill>
                  <a:srgbClr val="FF0000"/>
                </a:solidFill>
              </a:rPr>
              <a:t>Dijitalleşmenin istihdam ve işgücü piyasası üzerindeki olumsuz etkisi</a:t>
            </a:r>
            <a:endParaRPr lang="tr-TR" dirty="0"/>
          </a:p>
        </p:txBody>
      </p:sp>
      <p:sp>
        <p:nvSpPr>
          <p:cNvPr id="3" name="İçerik Yer Tutucusu 2">
            <a:extLst>
              <a:ext uri="{FF2B5EF4-FFF2-40B4-BE49-F238E27FC236}">
                <a16:creationId xmlns:a16="http://schemas.microsoft.com/office/drawing/2014/main" id="{F2D77E48-9BB6-A4CC-805E-2BBF603AA7A2}"/>
              </a:ext>
            </a:extLst>
          </p:cNvPr>
          <p:cNvSpPr>
            <a:spLocks noGrp="1"/>
          </p:cNvSpPr>
          <p:nvPr>
            <p:ph idx="1"/>
          </p:nvPr>
        </p:nvSpPr>
        <p:spPr/>
        <p:txBody>
          <a:bodyPr vert="horz" lIns="91440" tIns="45720" rIns="91440" bIns="45720" rtlCol="0" anchor="t">
            <a:normAutofit/>
          </a:bodyPr>
          <a:lstStyle/>
          <a:p>
            <a:pPr marL="0" indent="0">
              <a:buNone/>
            </a:pPr>
            <a:r>
              <a:rPr lang="tr-TR" dirty="0">
                <a:ea typeface="+mn-lt"/>
                <a:cs typeface="+mn-lt"/>
              </a:rPr>
              <a:t>Dönüşümün olumsuz tarafında ise, otomasyonun </a:t>
            </a:r>
            <a:r>
              <a:rPr lang="tr-TR" b="1" dirty="0">
                <a:ea typeface="+mn-lt"/>
                <a:cs typeface="+mn-lt"/>
              </a:rPr>
              <a:t>yaygın iş kayıpları</a:t>
            </a:r>
            <a:r>
              <a:rPr lang="tr-TR" dirty="0">
                <a:ea typeface="+mn-lt"/>
                <a:cs typeface="+mn-lt"/>
              </a:rPr>
              <a:t> potansiyeli yer alır. Özellikle orta beceri düzeyindeki büro işleri ve tekrarlayan imalat görevleri, yapay zeka ve robotik sistemler tarafından hızla ikame edilmektedir. Bu durum, nitelikleri eskiyen çalışanlar için ciddi bir </a:t>
            </a:r>
            <a:r>
              <a:rPr lang="tr-TR" b="1" dirty="0">
                <a:ea typeface="+mn-lt"/>
                <a:cs typeface="+mn-lt"/>
              </a:rPr>
              <a:t>beceri uçurumu</a:t>
            </a:r>
            <a:r>
              <a:rPr lang="tr-TR" dirty="0">
                <a:ea typeface="+mn-lt"/>
                <a:cs typeface="+mn-lt"/>
              </a:rPr>
              <a:t> ve işsizlik riski yaratır. Toplumsal düzeyde, dijital teknolojilere adapte olabilen ve olamayan gruplar arasındaki </a:t>
            </a:r>
            <a:r>
              <a:rPr lang="tr-TR" b="1" dirty="0">
                <a:ea typeface="+mn-lt"/>
                <a:cs typeface="+mn-lt"/>
              </a:rPr>
              <a:t>gelir eşitsizliği</a:t>
            </a:r>
            <a:r>
              <a:rPr lang="tr-TR" dirty="0">
                <a:ea typeface="+mn-lt"/>
                <a:cs typeface="+mn-lt"/>
              </a:rPr>
              <a:t> derinleşebilir. Ayrıca, platform ekonomisinin yaygınlaşması, çalışanlar için esneklik sağlarken, aynı zamanda </a:t>
            </a:r>
            <a:r>
              <a:rPr lang="tr-TR" b="1" dirty="0">
                <a:ea typeface="+mn-lt"/>
                <a:cs typeface="+mn-lt"/>
              </a:rPr>
              <a:t>iş güvencesizliği, sosyal güvenceden yoksun kalma</a:t>
            </a:r>
            <a:r>
              <a:rPr lang="tr-TR" dirty="0">
                <a:ea typeface="+mn-lt"/>
                <a:cs typeface="+mn-lt"/>
              </a:rPr>
              <a:t> ve düşük ücret sorunlarını beraberinde getirir. Son olarak, iş performansının dijital araçlarla sürekli izlenmesi, çalışanlar üzerinde artan bir </a:t>
            </a:r>
            <a:r>
              <a:rPr lang="tr-TR" b="1" dirty="0">
                <a:ea typeface="+mn-lt"/>
                <a:cs typeface="+mn-lt"/>
              </a:rPr>
              <a:t>gözetim ve stres</a:t>
            </a:r>
            <a:r>
              <a:rPr lang="tr-TR" dirty="0">
                <a:ea typeface="+mn-lt"/>
                <a:cs typeface="+mn-lt"/>
              </a:rPr>
              <a:t> yaratarak işyerinde yeni etik sorunlara yol açar.</a:t>
            </a:r>
            <a:endParaRPr lang="tr-TR" dirty="0"/>
          </a:p>
        </p:txBody>
      </p:sp>
    </p:spTree>
    <p:extLst>
      <p:ext uri="{BB962C8B-B14F-4D97-AF65-F5344CB8AC3E}">
        <p14:creationId xmlns:p14="http://schemas.microsoft.com/office/powerpoint/2010/main" val="536844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213A34-2D1D-6B1B-FEC2-11D3199150DD}"/>
              </a:ext>
            </a:extLst>
          </p:cNvPr>
          <p:cNvSpPr>
            <a:spLocks noGrp="1"/>
          </p:cNvSpPr>
          <p:nvPr>
            <p:ph type="title"/>
          </p:nvPr>
        </p:nvSpPr>
        <p:spPr>
          <a:xfrm>
            <a:off x="700635" y="914400"/>
            <a:ext cx="10691265" cy="689366"/>
          </a:xfrm>
        </p:spPr>
        <p:txBody>
          <a:bodyPr>
            <a:normAutofit fontScale="90000"/>
          </a:bodyPr>
          <a:lstStyle/>
          <a:p>
            <a:r>
              <a:rPr lang="tr-TR" dirty="0">
                <a:solidFill>
                  <a:srgbClr val="FF0000"/>
                </a:solidFill>
              </a:rPr>
              <a:t>Bu olumsuzluklara önerilen çözümler</a:t>
            </a:r>
          </a:p>
        </p:txBody>
      </p:sp>
      <p:sp>
        <p:nvSpPr>
          <p:cNvPr id="3" name="İçerik Yer Tutucusu 2">
            <a:extLst>
              <a:ext uri="{FF2B5EF4-FFF2-40B4-BE49-F238E27FC236}">
                <a16:creationId xmlns:a16="http://schemas.microsoft.com/office/drawing/2014/main" id="{E71EB33E-DFCB-1714-E779-4366897AD22B}"/>
              </a:ext>
            </a:extLst>
          </p:cNvPr>
          <p:cNvSpPr>
            <a:spLocks noGrp="1"/>
          </p:cNvSpPr>
          <p:nvPr>
            <p:ph idx="1"/>
          </p:nvPr>
        </p:nvSpPr>
        <p:spPr/>
        <p:txBody>
          <a:bodyPr vert="horz" lIns="91440" tIns="45720" rIns="91440" bIns="45720" rtlCol="0" anchor="t">
            <a:normAutofit/>
          </a:bodyPr>
          <a:lstStyle/>
          <a:p>
            <a:pPr marL="342900" indent="-342900">
              <a:buFont typeface="Wingdings" panose="020B0604020202020204" pitchFamily="34" charset="0"/>
              <a:buChar char="ü"/>
            </a:pPr>
            <a:r>
              <a:rPr lang="tr-TR" b="1" dirty="0">
                <a:solidFill>
                  <a:srgbClr val="FF0000"/>
                </a:solidFill>
                <a:ea typeface="+mn-lt"/>
                <a:cs typeface="+mn-lt"/>
              </a:rPr>
              <a:t>Nitelikli İş Gücü Yetiştirme :</a:t>
            </a:r>
            <a:r>
              <a:rPr lang="tr-TR" dirty="0">
                <a:ea typeface="+mn-lt"/>
                <a:cs typeface="+mn-lt"/>
              </a:rPr>
              <a:t> Üniversiteler, meslek yüksekokulları ve sanayi odaları gibi kuruluşlar, sektörlerin hızla değişen ihtiyaçlarına uygun nitelikli iş gücü yetiştirecek programlar geliştirmek.</a:t>
            </a:r>
            <a:endParaRPr lang="tr-TR" dirty="0"/>
          </a:p>
          <a:p>
            <a:pPr marL="342900" indent="-342900">
              <a:buFont typeface="Wingdings" panose="020B0604020202020204" pitchFamily="34" charset="0"/>
              <a:buChar char="ü"/>
            </a:pPr>
            <a:r>
              <a:rPr lang="tr-TR" b="1" dirty="0">
                <a:solidFill>
                  <a:srgbClr val="FF0000"/>
                </a:solidFill>
                <a:ea typeface="+mn-lt"/>
                <a:cs typeface="+mn-lt"/>
              </a:rPr>
              <a:t>Dijital Okuryazarlık :</a:t>
            </a:r>
            <a:r>
              <a:rPr lang="tr-TR" dirty="0">
                <a:ea typeface="+mn-lt"/>
                <a:cs typeface="+mn-lt"/>
              </a:rPr>
              <a:t> Okul öncesinden başlayarak her seviyede dijital becerilerin (kodlama, veri analizi, siber güvenlik vb.) ve temel bilimlerin müfredata entegrasyonu.</a:t>
            </a:r>
          </a:p>
          <a:p>
            <a:pPr marL="342900" indent="-342900">
              <a:buFont typeface="Wingdings" panose="020B0604020202020204" pitchFamily="34" charset="0"/>
              <a:buChar char="ü"/>
            </a:pPr>
            <a:r>
              <a:rPr lang="tr-TR" b="1" dirty="0">
                <a:solidFill>
                  <a:srgbClr val="FF0000"/>
                </a:solidFill>
                <a:ea typeface="+mn-lt"/>
                <a:cs typeface="+mn-lt"/>
              </a:rPr>
              <a:t>Yumuşak Becerilerin Geliştirilmesi:</a:t>
            </a:r>
            <a:r>
              <a:rPr lang="tr-TR" dirty="0">
                <a:solidFill>
                  <a:srgbClr val="FF0000"/>
                </a:solidFill>
                <a:ea typeface="+mn-lt"/>
                <a:cs typeface="+mn-lt"/>
              </a:rPr>
              <a:t> </a:t>
            </a:r>
            <a:r>
              <a:rPr lang="tr-TR" dirty="0">
                <a:ea typeface="+mn-lt"/>
                <a:cs typeface="+mn-lt"/>
              </a:rPr>
              <a:t>Otomasyonun zorlukla taklit edebileceği yaratıcılık, eleştirel düşünme, problem çözme, iletişim ve duygusal zeka gibi "insan odaklı" becerilerin eğitimi desteklenmelidir.</a:t>
            </a:r>
            <a:endParaRPr lang="tr-TR" dirty="0"/>
          </a:p>
          <a:p>
            <a:pPr marL="0" indent="0">
              <a:buNone/>
            </a:pPr>
            <a:endParaRPr lang="tr-TR"/>
          </a:p>
          <a:p>
            <a:pPr marL="342900" indent="-342900">
              <a:buFont typeface="Wingdings" panose="020B0604020202020204" pitchFamily="34" charset="0"/>
              <a:buChar char="ü"/>
            </a:pPr>
            <a:endParaRPr lang="tr-TR" dirty="0"/>
          </a:p>
          <a:p>
            <a:pPr marL="342900" indent="-342900">
              <a:buFont typeface="Wingdings" panose="020B0604020202020204" pitchFamily="34" charset="0"/>
              <a:buChar char="ü"/>
            </a:pPr>
            <a:endParaRPr lang="tr-TR" dirty="0"/>
          </a:p>
          <a:p>
            <a:pPr marL="342900" indent="-342900">
              <a:buFont typeface="Wingdings" panose="020B0604020202020204" pitchFamily="34" charset="0"/>
              <a:buChar char="ü"/>
            </a:pPr>
            <a:endParaRPr lang="tr-TR" dirty="0"/>
          </a:p>
          <a:p>
            <a:pPr marL="342900" indent="-342900">
              <a:buFont typeface="Wingdings" panose="020B0604020202020204" pitchFamily="34" charset="0"/>
              <a:buChar char="ü"/>
            </a:pPr>
            <a:endParaRPr lang="tr-TR" dirty="0"/>
          </a:p>
        </p:txBody>
      </p:sp>
    </p:spTree>
    <p:extLst>
      <p:ext uri="{BB962C8B-B14F-4D97-AF65-F5344CB8AC3E}">
        <p14:creationId xmlns:p14="http://schemas.microsoft.com/office/powerpoint/2010/main" val="2365263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C16ABC-3613-EF32-E27E-3E31B84A1028}"/>
              </a:ext>
            </a:extLst>
          </p:cNvPr>
          <p:cNvSpPr>
            <a:spLocks noGrp="1"/>
          </p:cNvSpPr>
          <p:nvPr>
            <p:ph type="title"/>
          </p:nvPr>
        </p:nvSpPr>
        <p:spPr>
          <a:xfrm>
            <a:off x="758144" y="914400"/>
            <a:ext cx="10691265" cy="1307592"/>
          </a:xfrm>
        </p:spPr>
        <p:txBody>
          <a:bodyPr>
            <a:normAutofit/>
          </a:bodyPr>
          <a:lstStyle/>
          <a:p>
            <a:r>
              <a:rPr lang="tr-TR" sz="2800" dirty="0">
                <a:solidFill>
                  <a:srgbClr val="FF0000"/>
                </a:solidFill>
              </a:rPr>
              <a:t>Dijitalleşmenin</a:t>
            </a:r>
            <a:r>
              <a:rPr lang="tr-TR" dirty="0">
                <a:solidFill>
                  <a:srgbClr val="FF0000"/>
                </a:solidFill>
              </a:rPr>
              <a:t> </a:t>
            </a:r>
            <a:r>
              <a:rPr lang="tr-TR" sz="2800" dirty="0">
                <a:solidFill>
                  <a:srgbClr val="FF0000"/>
                </a:solidFill>
              </a:rPr>
              <a:t>toplumsal etkileri hakkında literatür çalışmaları</a:t>
            </a:r>
          </a:p>
        </p:txBody>
      </p:sp>
      <p:sp>
        <p:nvSpPr>
          <p:cNvPr id="3" name="İçerik Yer Tutucusu 2">
            <a:extLst>
              <a:ext uri="{FF2B5EF4-FFF2-40B4-BE49-F238E27FC236}">
                <a16:creationId xmlns:a16="http://schemas.microsoft.com/office/drawing/2014/main" id="{AE150D4E-645D-6687-8206-E4FE6B115DD8}"/>
              </a:ext>
            </a:extLst>
          </p:cNvPr>
          <p:cNvSpPr>
            <a:spLocks noGrp="1"/>
          </p:cNvSpPr>
          <p:nvPr>
            <p:ph idx="1"/>
          </p:nvPr>
        </p:nvSpPr>
        <p:spPr/>
        <p:txBody>
          <a:bodyPr vert="horz" lIns="91440" tIns="45720" rIns="91440" bIns="45720" rtlCol="0" anchor="t">
            <a:normAutofit fontScale="85000" lnSpcReduction="10000"/>
          </a:bodyPr>
          <a:lstStyle/>
          <a:p>
            <a:pPr marL="0" indent="0">
              <a:buNone/>
            </a:pPr>
            <a:r>
              <a:rPr lang="tr-TR" dirty="0">
                <a:ea typeface="+mn-lt"/>
                <a:cs typeface="+mn-lt"/>
              </a:rPr>
              <a:t>Dijital dönem, bireyler ve toplumlar için yeni bir güç ve otorite kaynağı olarak dijital araçların kullanımını ve bu araçları etkin bir biçimde yönetebilme becerisini ön plana çıkarmaktadır. Bu bağlamda, bireylerin gündelik yaşam pratiklerinden düşünsel dünyalarına kadar geniş bir alanda, dijital platformlar aracılığıyla kontrol ve yönlendirme mekanizmalarının işlediği yeni bir iktidar biçimi ortaya çıkmıştır. Bu iktidar biçimi dijital unsurlar ve bileşenlerle yapılandırılmış, dijitalleşmenin birey ve toplum üzerindeki yansımalarının somut bir tezahürü olan “dijital </a:t>
            </a:r>
            <a:r>
              <a:rPr lang="tr-TR" dirty="0" err="1">
                <a:ea typeface="+mn-lt"/>
                <a:cs typeface="+mn-lt"/>
              </a:rPr>
              <a:t>hegemonya”dır</a:t>
            </a:r>
            <a:r>
              <a:rPr lang="tr-TR" dirty="0">
                <a:ea typeface="+mn-lt"/>
                <a:cs typeface="+mn-lt"/>
              </a:rPr>
              <a:t>. Dijitalleşmenin hegemonik gücü olan dijital hegemonya, dijital platformları kullanarak, bireylerin davranışlarını şekillendirir ve görünmez bir gözetim ve denetim sistemi kurarak, toplumsal normların yeniden üretilmesini sağlar. Çalışmanın amacı, dijitalleşmenin birey ve toplum üzerindeki hegemonik yansımalarını, bireysel ve toplumsal dinamiklere etkileri çerçevesinde, </a:t>
            </a:r>
            <a:r>
              <a:rPr lang="tr-TR" dirty="0" err="1">
                <a:ea typeface="+mn-lt"/>
                <a:cs typeface="+mn-lt"/>
              </a:rPr>
              <a:t>sosyo</a:t>
            </a:r>
            <a:r>
              <a:rPr lang="tr-TR" dirty="0">
                <a:ea typeface="+mn-lt"/>
                <a:cs typeface="+mn-lt"/>
              </a:rPr>
              <a:t>-politik açıdan ele alarak literatür incelemesine dayalı, teorik bir düşünsel harita oluşturmaktır. Bu çerçevede dijital hegemonya, yalnızca dijital teknolojilerin teknik işlevleriyle sınırlı kalmayıp, aynı zamanda bireylerin ve toplumların düşünsel ve eylemsel alanlarını etkileyen güce ve rızaya dayalı güç ilişkisini ortaya çıkarmaktadır. Dolayısıyla bu hegemonik süreç, birey ve toplum üzerinde hem gönüllü bir rıza hem de zorlama aracı olarak baskı biçiminde gerçekleşmektedir </a:t>
            </a:r>
            <a:endParaRPr lang="tr-TR" dirty="0"/>
          </a:p>
        </p:txBody>
      </p:sp>
    </p:spTree>
    <p:extLst>
      <p:ext uri="{BB962C8B-B14F-4D97-AF65-F5344CB8AC3E}">
        <p14:creationId xmlns:p14="http://schemas.microsoft.com/office/powerpoint/2010/main" val="3984032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7613344-9AAB-25B0-F83E-0B5FB4C6A73E}"/>
              </a:ext>
            </a:extLst>
          </p:cNvPr>
          <p:cNvSpPr>
            <a:spLocks noGrp="1"/>
          </p:cNvSpPr>
          <p:nvPr>
            <p:ph type="title"/>
          </p:nvPr>
        </p:nvSpPr>
        <p:spPr>
          <a:xfrm>
            <a:off x="700635" y="914400"/>
            <a:ext cx="10691265" cy="4499365"/>
          </a:xfrm>
        </p:spPr>
        <p:txBody>
          <a:bodyPr/>
          <a:lstStyle/>
          <a:p>
            <a:endParaRPr lang="tr-TR"/>
          </a:p>
        </p:txBody>
      </p:sp>
      <p:sp>
        <p:nvSpPr>
          <p:cNvPr id="3" name="İçerik Yer Tutucusu 2">
            <a:extLst>
              <a:ext uri="{FF2B5EF4-FFF2-40B4-BE49-F238E27FC236}">
                <a16:creationId xmlns:a16="http://schemas.microsoft.com/office/drawing/2014/main" id="{15D84E7E-9FE7-10BF-F237-ACAA7B30C585}"/>
              </a:ext>
            </a:extLst>
          </p:cNvPr>
          <p:cNvSpPr>
            <a:spLocks noGrp="1"/>
          </p:cNvSpPr>
          <p:nvPr>
            <p:ph idx="1"/>
          </p:nvPr>
        </p:nvSpPr>
        <p:spPr>
          <a:xfrm>
            <a:off x="700635" y="913653"/>
            <a:ext cx="10691265" cy="5048235"/>
          </a:xfrm>
        </p:spPr>
        <p:txBody>
          <a:bodyPr vert="horz" lIns="91440" tIns="45720" rIns="91440" bIns="45720" rtlCol="0" anchor="t">
            <a:normAutofit lnSpcReduction="10000"/>
          </a:bodyPr>
          <a:lstStyle/>
          <a:p>
            <a:pPr marL="0" indent="0">
              <a:buNone/>
            </a:pPr>
            <a:r>
              <a:rPr lang="tr-TR" dirty="0">
                <a:solidFill>
                  <a:srgbClr val="111111"/>
                </a:solidFill>
                <a:latin typeface="Poppins"/>
                <a:cs typeface="Poppins"/>
              </a:rPr>
              <a:t>Dijitalleşme, toplumsal yapı ve gündelik yaşam pratiklerinde köklü değişime yol açmaktadır. Dijital iletişim teknolojileri, fertlerin iletişim biçimlerini ve toplumsal dinamikleri dönüştürerek yeni davranış kalıplarını ortaya çıkarmaktadır. Bu çalışmada, dijital iletişim araçlarının fertlerin dilek, talep ve şikâyet süreçlerini nasıl etkilediği incelenmiş ve sağlık sektörüne odaklanılarak bu dönüşümün etkileri değerlendirilmiştir. Çalışma kapsamında doküman analizi yöntemi kullanılarak sağlık alanındaki dilek, talep ve şikâyetlere ilişkin araştırmalar incelenmiş ve Cumhurbaşkanlığı İletişim Merkezi (CİMER) verileri üzerinden bir analiz gerçekleştirilmiştir. Çalışmada dijital iletişim araçlarının hız, kolaylık ve erişilebilirlik gibi özelliklerinin, fertlerin taleplerini fiziksel platformlardan çevrim içi ortamlara taşıdığı tespit edilmiştir. Çevrim içi ortamlar, fertlerin taleplerini daha hızlı ve etkili bir şekilde iletmesini sağlarken, toplumsal yaşamda Dilek Şikâyet Kutusunun işlevini yitirerek "dijital talep" olgusunun yaygınlaşmasına katkı sunmaktadır. Çalışmada dijital iletişim teknolojilerinin fertlerin taleplerinde işlevsel olmakla birlikte toplumsal yapıda önemli bir değişime neden olduğu belirtilmişti</a:t>
            </a:r>
            <a:r>
              <a:rPr lang="tr-TR" sz="1100" dirty="0">
                <a:solidFill>
                  <a:srgbClr val="111111"/>
                </a:solidFill>
                <a:latin typeface="Poppins"/>
                <a:cs typeface="Poppins"/>
              </a:rPr>
              <a:t>r.</a:t>
            </a:r>
            <a:endParaRPr lang="tr-TR" dirty="0"/>
          </a:p>
        </p:txBody>
      </p:sp>
    </p:spTree>
    <p:extLst>
      <p:ext uri="{BB962C8B-B14F-4D97-AF65-F5344CB8AC3E}">
        <p14:creationId xmlns:p14="http://schemas.microsoft.com/office/powerpoint/2010/main" val="156997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7E2D02-6D17-1397-53F9-9AFFC0094EB9}"/>
              </a:ext>
            </a:extLst>
          </p:cNvPr>
          <p:cNvSpPr>
            <a:spLocks noGrp="1"/>
          </p:cNvSpPr>
          <p:nvPr>
            <p:ph type="title"/>
          </p:nvPr>
        </p:nvSpPr>
        <p:spPr/>
        <p:txBody>
          <a:bodyPr/>
          <a:lstStyle/>
          <a:p>
            <a:r>
              <a:rPr lang="tr-TR" dirty="0"/>
              <a:t>Kaynakça</a:t>
            </a:r>
          </a:p>
        </p:txBody>
      </p:sp>
      <p:sp>
        <p:nvSpPr>
          <p:cNvPr id="3" name="İçerik Yer Tutucusu 2">
            <a:extLst>
              <a:ext uri="{FF2B5EF4-FFF2-40B4-BE49-F238E27FC236}">
                <a16:creationId xmlns:a16="http://schemas.microsoft.com/office/drawing/2014/main" id="{10F602E4-6FE1-5B7D-448A-85C992A644F5}"/>
              </a:ext>
            </a:extLst>
          </p:cNvPr>
          <p:cNvSpPr>
            <a:spLocks noGrp="1"/>
          </p:cNvSpPr>
          <p:nvPr>
            <p:ph idx="1"/>
          </p:nvPr>
        </p:nvSpPr>
        <p:spPr/>
        <p:txBody>
          <a:bodyPr vert="horz" lIns="91440" tIns="45720" rIns="91440" bIns="45720" rtlCol="0" anchor="t">
            <a:normAutofit/>
          </a:bodyPr>
          <a:lstStyle/>
          <a:p>
            <a:pPr marL="0" indent="0">
              <a:buNone/>
            </a:pPr>
            <a:r>
              <a:rPr lang="tr-TR" dirty="0">
                <a:ea typeface="+mn-lt"/>
                <a:cs typeface="+mn-lt"/>
                <a:hlinkClick r:id="rId2"/>
              </a:rPr>
              <a:t>https://gemini.google.com/</a:t>
            </a:r>
            <a:endParaRPr lang="tr-TR">
              <a:ea typeface="+mn-lt"/>
              <a:cs typeface="+mn-lt"/>
            </a:endParaRPr>
          </a:p>
          <a:p>
            <a:pPr marL="0" indent="0">
              <a:buNone/>
            </a:pPr>
            <a:r>
              <a:rPr lang="tr-TR" dirty="0">
                <a:ea typeface="+mn-lt"/>
                <a:cs typeface="+mn-lt"/>
                <a:hlinkClick r:id="rId3"/>
              </a:rPr>
              <a:t>https://digitalage.com.tr/</a:t>
            </a:r>
            <a:endParaRPr lang="tr-TR">
              <a:ea typeface="+mn-lt"/>
              <a:cs typeface="+mn-lt"/>
            </a:endParaRPr>
          </a:p>
          <a:p>
            <a:pPr marL="0" indent="0">
              <a:buNone/>
            </a:pPr>
            <a:r>
              <a:rPr lang="tr-TR" dirty="0">
                <a:ea typeface="+mn-lt"/>
                <a:cs typeface="+mn-lt"/>
                <a:hlinkClick r:id="rId4"/>
              </a:rPr>
              <a:t>https://www.fikrimucit.com/</a:t>
            </a:r>
            <a:endParaRPr lang="tr-TR">
              <a:ea typeface="+mn-lt"/>
              <a:cs typeface="+mn-lt"/>
            </a:endParaRPr>
          </a:p>
          <a:p>
            <a:pPr marL="0" indent="0">
              <a:buNone/>
            </a:pPr>
            <a:r>
              <a:rPr lang="tr-TR" dirty="0">
                <a:ea typeface="+mn-lt"/>
                <a:cs typeface="+mn-lt"/>
                <a:hlinkClick r:id="rId5"/>
              </a:rPr>
              <a:t>https://scholar.google.com/</a:t>
            </a:r>
            <a:endParaRPr lang="tr-TR">
              <a:ea typeface="+mn-lt"/>
              <a:cs typeface="+mn-lt"/>
            </a:endParaRPr>
          </a:p>
          <a:p>
            <a:pPr marL="0" indent="0">
              <a:buNone/>
            </a:pPr>
            <a:r>
              <a:rPr lang="tr-TR" dirty="0">
                <a:ea typeface="+mn-lt"/>
                <a:cs typeface="+mn-lt"/>
                <a:hlinkClick r:id="rId6"/>
              </a:rPr>
              <a:t>https://dergipark.org.tr/</a:t>
            </a:r>
            <a:endParaRPr lang="tr-TR">
              <a:ea typeface="+mn-lt"/>
              <a:cs typeface="+mn-lt"/>
            </a:endParaRPr>
          </a:p>
          <a:p>
            <a:pPr marL="0" indent="0">
              <a:buNone/>
            </a:pPr>
            <a:endParaRPr lang="tr-TR" dirty="0"/>
          </a:p>
        </p:txBody>
      </p:sp>
    </p:spTree>
    <p:extLst>
      <p:ext uri="{BB962C8B-B14F-4D97-AF65-F5344CB8AC3E}">
        <p14:creationId xmlns:p14="http://schemas.microsoft.com/office/powerpoint/2010/main" val="1334727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26C2AE-E21B-E19A-9E21-A1B0B5B7A155}"/>
              </a:ext>
            </a:extLst>
          </p:cNvPr>
          <p:cNvSpPr>
            <a:spLocks noGrp="1"/>
          </p:cNvSpPr>
          <p:nvPr>
            <p:ph type="title"/>
          </p:nvPr>
        </p:nvSpPr>
        <p:spPr>
          <a:xfrm>
            <a:off x="700635" y="2553418"/>
            <a:ext cx="10691265" cy="2443404"/>
          </a:xfrm>
        </p:spPr>
        <p:txBody>
          <a:bodyPr/>
          <a:lstStyle/>
          <a:p>
            <a:r>
              <a:rPr lang="tr-TR" dirty="0"/>
              <a:t>      Bizi dinlediğiniz için  teşekkürler</a:t>
            </a:r>
          </a:p>
        </p:txBody>
      </p:sp>
      <p:sp>
        <p:nvSpPr>
          <p:cNvPr id="3" name="İçerik Yer Tutucusu 2">
            <a:extLst>
              <a:ext uri="{FF2B5EF4-FFF2-40B4-BE49-F238E27FC236}">
                <a16:creationId xmlns:a16="http://schemas.microsoft.com/office/drawing/2014/main" id="{BCD9563B-5167-809C-B40B-A3CDF2A897BE}"/>
              </a:ext>
            </a:extLst>
          </p:cNvPr>
          <p:cNvSpPr>
            <a:spLocks noGrp="1"/>
          </p:cNvSpPr>
          <p:nvPr>
            <p:ph idx="1"/>
          </p:nvPr>
        </p:nvSpPr>
        <p:spPr/>
        <p:txBody>
          <a:bodyPr vert="horz" lIns="91440" tIns="45720" rIns="91440" bIns="45720" rtlCol="0" anchor="t">
            <a:normAutofit/>
          </a:bodyPr>
          <a:lstStyle/>
          <a:p>
            <a:pPr marL="0" indent="0">
              <a:buNone/>
            </a:pPr>
            <a:r>
              <a:rPr lang="tr-TR" dirty="0"/>
              <a:t> </a:t>
            </a:r>
            <a:endParaRPr lang="tr-TR"/>
          </a:p>
        </p:txBody>
      </p:sp>
    </p:spTree>
    <p:extLst>
      <p:ext uri="{BB962C8B-B14F-4D97-AF65-F5344CB8AC3E}">
        <p14:creationId xmlns:p14="http://schemas.microsoft.com/office/powerpoint/2010/main" val="4209557608"/>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13</Slides>
  <Notes>0</Notes>
  <HiddenSlides>0</HiddenSlides>
  <MMClips>0</MMClips>
  <ScaleCrop>false</ScaleCrop>
  <HeadingPairs>
    <vt:vector size="4" baseType="variant">
      <vt:variant>
        <vt:lpstr>Tema</vt:lpstr>
      </vt:variant>
      <vt:variant>
        <vt:i4>1</vt:i4>
      </vt:variant>
      <vt:variant>
        <vt:lpstr>Slayt Başlıkları</vt:lpstr>
      </vt:variant>
      <vt:variant>
        <vt:i4>13</vt:i4>
      </vt:variant>
    </vt:vector>
  </HeadingPairs>
  <TitlesOfParts>
    <vt:vector size="14" baseType="lpstr">
      <vt:lpstr>ChronicleVTI</vt:lpstr>
      <vt:lpstr>Araştırma Yöntem ve Teknikleri</vt:lpstr>
      <vt:lpstr>Dijitalleşmenin  toplumsal etkileri </vt:lpstr>
      <vt:lpstr>Dijitalleşmenin önemi</vt:lpstr>
      <vt:lpstr>Dijitalleşmeyle  ilgili  kavramlar</vt:lpstr>
      <vt:lpstr>Dijitalleşme</vt:lpstr>
      <vt:lpstr>İstihdam ve iş gücü piyasası üzerine hipotez  ve bağımlı ,  bağımsız değişken</vt:lpstr>
      <vt:lpstr>Dijitalleşmenin istihdam ve işgücü piyasası üzerindeki olumlu etkisi</vt:lpstr>
      <vt:lpstr>Dijitalleşmenin istihdam ve işgücü piyasası üzerindeki olumsuz etkisi</vt:lpstr>
      <vt:lpstr>Bu olumsuzluklara önerilen çözümler</vt:lpstr>
      <vt:lpstr>Dijitalleşmenin toplumsal etkileri hakkında literatür çalışmaları</vt:lpstr>
      <vt:lpstr>PowerPoint Sunusu</vt:lpstr>
      <vt:lpstr>Kaynakça</vt:lpstr>
      <vt:lpstr>      Bizi dinlediğiniz için  teşekkürler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346</cp:revision>
  <dcterms:created xsi:type="dcterms:W3CDTF">2025-10-27T14:56:27Z</dcterms:created>
  <dcterms:modified xsi:type="dcterms:W3CDTF">2025-10-29T20:07:08Z</dcterms:modified>
</cp:coreProperties>
</file>